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Text 0"/>
          <p:cNvSpPr/>
          <p:nvPr/>
        </p:nvSpPr>
        <p:spPr>
          <a:xfrm>
            <a:off x="548640" y="237744"/>
            <a:ext cx="2011680" cy="310896"/>
          </a:xfrm>
          <a:prstGeom prst="rect">
            <a:avLst/>
          </a:prstGeom>
          <a:noFill/>
          <a:ln/>
        </p:spPr>
        <p:txBody>
          <a:bodyPr wrap="square" lIns="0" tIns="0" rIns="0" bIns="0" rtlCol="0" anchor="ctr"/>
          <a:lstStyle/>
          <a:p>
            <a:pPr indent="0" marL="0">
              <a:buNone/>
            </a:pPr>
            <a:r>
              <a:rPr lang="en-US" sz="1300" b="1" dirty="0">
                <a:solidFill>
                  <a:srgbClr val="F8F5EE"/>
                </a:solidFill>
                <a:latin typeface="Calibri" pitchFamily="34" charset="0"/>
                <a:ea typeface="Calibri" pitchFamily="34" charset="-122"/>
                <a:cs typeface="Calibri" pitchFamily="34" charset="-120"/>
              </a:rPr>
              <a:t>Portfolio</a:t>
            </a:r>
            <a:endParaRPr lang="en-US" sz="1300" dirty="0"/>
          </a:p>
        </p:txBody>
      </p:sp>
      <p:sp>
        <p:nvSpPr>
          <p:cNvPr id="3" name="Text 1"/>
          <p:cNvSpPr/>
          <p:nvPr/>
        </p:nvSpPr>
        <p:spPr>
          <a:xfrm>
            <a:off x="8366760" y="237744"/>
            <a:ext cx="777240" cy="310896"/>
          </a:xfrm>
          <a:prstGeom prst="rect">
            <a:avLst/>
          </a:prstGeom>
          <a:noFill/>
          <a:ln/>
        </p:spPr>
        <p:txBody>
          <a:bodyPr wrap="square" lIns="0" tIns="0" rIns="0" bIns="0" rtlCol="0" anchor="ctr"/>
          <a:lstStyle/>
          <a:p>
            <a:pPr algn="l" indent="0" marL="0">
              <a:buNone/>
            </a:pPr>
            <a:r>
              <a:rPr lang="en-US" sz="1100" b="1" dirty="0">
                <a:solidFill>
                  <a:srgbClr val="C9A84C"/>
                </a:solidFill>
                <a:latin typeface="Calibri" pitchFamily="34" charset="0"/>
                <a:ea typeface="Calibri" pitchFamily="34" charset="-122"/>
                <a:cs typeface="Calibri" pitchFamily="34" charset="-120"/>
              </a:rPr>
              <a:t>Home</a:t>
            </a:r>
            <a:endParaRPr lang="en-US" sz="1100" dirty="0"/>
          </a:p>
        </p:txBody>
      </p:sp>
      <p:sp>
        <p:nvSpPr>
          <p:cNvPr id="4" name="Shape 2"/>
          <p:cNvSpPr/>
          <p:nvPr/>
        </p:nvSpPr>
        <p:spPr>
          <a:xfrm>
            <a:off x="8366760" y="548640"/>
            <a:ext cx="640080" cy="0"/>
          </a:xfrm>
          <a:prstGeom prst="line">
            <a:avLst/>
          </a:prstGeom>
          <a:noFill/>
          <a:ln w="19050">
            <a:solidFill>
              <a:srgbClr val="C9A84C"/>
            </a:solidFill>
            <a:prstDash val="solid"/>
          </a:ln>
        </p:spPr>
      </p:sp>
      <p:sp>
        <p:nvSpPr>
          <p:cNvPr id="5" name="Text 3"/>
          <p:cNvSpPr/>
          <p:nvPr/>
        </p:nvSpPr>
        <p:spPr>
          <a:xfrm>
            <a:off x="9281160" y="237744"/>
            <a:ext cx="1234440" cy="310896"/>
          </a:xfrm>
          <a:prstGeom prst="rect">
            <a:avLst/>
          </a:prstGeom>
          <a:noFill/>
          <a:ln/>
        </p:spPr>
        <p:txBody>
          <a:bodyPr wrap="square" lIns="0" tIns="0" rIns="0" bIns="0" rtlCol="0" anchor="ctr"/>
          <a:lstStyle/>
          <a:p>
            <a:pPr algn="l" indent="0" marL="0">
              <a:buNone/>
            </a:pPr>
            <a:r>
              <a:rPr lang="en-US" sz="1100" dirty="0">
                <a:solidFill>
                  <a:srgbClr val="C9C2AE"/>
                </a:solidFill>
                <a:latin typeface="Calibri" pitchFamily="34" charset="0"/>
                <a:ea typeface="Calibri" pitchFamily="34" charset="-122"/>
                <a:cs typeface="Calibri" pitchFamily="34" charset="-120"/>
              </a:rPr>
              <a:t>Case Studies</a:t>
            </a:r>
            <a:endParaRPr lang="en-US" sz="1100" dirty="0"/>
          </a:p>
        </p:txBody>
      </p:sp>
      <p:sp>
        <p:nvSpPr>
          <p:cNvPr id="6" name="Text 4"/>
          <p:cNvSpPr/>
          <p:nvPr/>
        </p:nvSpPr>
        <p:spPr>
          <a:xfrm>
            <a:off x="10652760" y="237744"/>
            <a:ext cx="1005840" cy="310896"/>
          </a:xfrm>
          <a:prstGeom prst="rect">
            <a:avLst/>
          </a:prstGeom>
          <a:noFill/>
          <a:ln/>
        </p:spPr>
        <p:txBody>
          <a:bodyPr wrap="square" lIns="0" tIns="0" rIns="0" bIns="0" rtlCol="0" anchor="ctr"/>
          <a:lstStyle/>
          <a:p>
            <a:pPr algn="l" indent="0" marL="0">
              <a:buNone/>
            </a:pPr>
            <a:r>
              <a:rPr lang="en-US" sz="1100" dirty="0">
                <a:solidFill>
                  <a:srgbClr val="C9C2AE"/>
                </a:solidFill>
                <a:latin typeface="Calibri" pitchFamily="34" charset="0"/>
                <a:ea typeface="Calibri" pitchFamily="34" charset="-122"/>
                <a:cs typeface="Calibri" pitchFamily="34" charset="-120"/>
              </a:rPr>
              <a:t>Outcomes</a:t>
            </a:r>
            <a:endParaRPr lang="en-US" sz="1100" dirty="0"/>
          </a:p>
        </p:txBody>
      </p:sp>
      <p:sp>
        <p:nvSpPr>
          <p:cNvPr id="7" name="Shape 5"/>
          <p:cNvSpPr/>
          <p:nvPr/>
        </p:nvSpPr>
        <p:spPr>
          <a:xfrm>
            <a:off x="548640" y="731520"/>
            <a:ext cx="11094415" cy="0"/>
          </a:xfrm>
          <a:prstGeom prst="line">
            <a:avLst/>
          </a:prstGeom>
          <a:noFill/>
          <a:ln w="9525">
            <a:solidFill>
              <a:srgbClr val="2A3A63"/>
            </a:solidFill>
            <a:prstDash val="solid"/>
          </a:ln>
        </p:spPr>
      </p:sp>
      <p:sp>
        <p:nvSpPr>
          <p:cNvPr id="8" name="Text 6"/>
          <p:cNvSpPr/>
          <p:nvPr/>
        </p:nvSpPr>
        <p:spPr>
          <a:xfrm>
            <a:off x="548640" y="6473952"/>
            <a:ext cx="2926080" cy="274320"/>
          </a:xfrm>
          <a:prstGeom prst="rect">
            <a:avLst/>
          </a:prstGeom>
          <a:noFill/>
          <a:ln/>
        </p:spPr>
        <p:txBody>
          <a:bodyPr wrap="square" lIns="0" tIns="0" rIns="0" bIns="0" rtlCol="0" anchor="ctr"/>
          <a:lstStyle/>
          <a:p>
            <a:pPr indent="0" marL="0">
              <a:buNone/>
            </a:pPr>
            <a:r>
              <a:rPr lang="en-US" sz="900" dirty="0">
                <a:solidFill>
                  <a:srgbClr val="C9C2AE"/>
                </a:solidFill>
                <a:latin typeface="Calibri" pitchFamily="34" charset="0"/>
                <a:ea typeface="Calibri" pitchFamily="34" charset="-122"/>
                <a:cs typeface="Calibri" pitchFamily="34" charset="-120"/>
              </a:rPr>
              <a:t>www.jktellsstories.africa</a:t>
            </a:r>
            <a:endParaRPr lang="en-US" sz="900" dirty="0"/>
          </a:p>
        </p:txBody>
      </p:sp>
      <p:sp>
        <p:nvSpPr>
          <p:cNvPr id="9" name="Text 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C9C2AE"/>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548640" y="1600200"/>
            <a:ext cx="5943600" cy="320040"/>
          </a:xfrm>
          <a:prstGeom prst="rect">
            <a:avLst/>
          </a:prstGeom>
          <a:noFill/>
          <a:ln/>
        </p:spPr>
        <p:txBody>
          <a:bodyPr wrap="square" lIns="0" tIns="0" rIns="0" bIns="0" rtlCol="0" anchor="ctr"/>
          <a:lstStyle/>
          <a:p>
            <a:pPr indent="0" marL="0">
              <a:buNone/>
            </a:pPr>
            <a:r>
              <a:rPr lang="en-US" sz="1100" b="1" spc="200" kern="0" dirty="0">
                <a:solidFill>
                  <a:srgbClr val="C9A84C"/>
                </a:solidFill>
                <a:latin typeface="Calibri" pitchFamily="34" charset="0"/>
                <a:ea typeface="Calibri" pitchFamily="34" charset="-122"/>
                <a:cs typeface="Calibri" pitchFamily="34" charset="-120"/>
              </a:rPr>
              <a:t>BRAND STRATEGY  ·  CASE STUDY</a:t>
            </a:r>
            <a:endParaRPr lang="en-US" sz="1100" dirty="0"/>
          </a:p>
        </p:txBody>
      </p:sp>
      <p:sp>
        <p:nvSpPr>
          <p:cNvPr id="11" name="Text 9"/>
          <p:cNvSpPr/>
          <p:nvPr/>
        </p:nvSpPr>
        <p:spPr>
          <a:xfrm>
            <a:off x="548640" y="1965960"/>
            <a:ext cx="6492240" cy="1737360"/>
          </a:xfrm>
          <a:prstGeom prst="rect">
            <a:avLst/>
          </a:prstGeom>
          <a:noFill/>
          <a:ln/>
        </p:spPr>
        <p:txBody>
          <a:bodyPr wrap="square" lIns="0" tIns="0" rIns="0" bIns="0" rtlCol="0" anchor="ctr"/>
          <a:lstStyle/>
          <a:p>
            <a:pPr indent="0" marL="0">
              <a:lnSpc>
                <a:spcPct val="102000"/>
              </a:lnSpc>
              <a:buNone/>
            </a:pPr>
            <a:r>
              <a:rPr lang="en-US" sz="4000" b="1" dirty="0">
                <a:solidFill>
                  <a:srgbClr val="F8F5EE"/>
                </a:solidFill>
                <a:latin typeface="Cambria" pitchFamily="34" charset="0"/>
                <a:ea typeface="Cambria" pitchFamily="34" charset="-122"/>
                <a:cs typeface="Cambria" pitchFamily="34" charset="-120"/>
              </a:rPr>
              <a:t>Polaris</a:t>
            </a:r>
            <a:endParaRPr lang="en-US" sz="4000" dirty="0"/>
          </a:p>
          <a:p>
            <a:pPr indent="0" marL="0">
              <a:lnSpc>
                <a:spcPct val="102000"/>
              </a:lnSpc>
              <a:buNone/>
            </a:pPr>
            <a:r>
              <a:rPr lang="en-US" sz="4000" b="1" dirty="0">
                <a:solidFill>
                  <a:srgbClr val="F8F5EE"/>
                </a:solidFill>
                <a:latin typeface="Cambria" pitchFamily="34" charset="0"/>
                <a:ea typeface="Cambria" pitchFamily="34" charset="-122"/>
                <a:cs typeface="Cambria" pitchFamily="34" charset="-120"/>
              </a:rPr>
              <a:t>Academic Agents</a:t>
            </a:r>
            <a:endParaRPr lang="en-US" sz="4000" dirty="0"/>
          </a:p>
        </p:txBody>
      </p:sp>
      <p:sp>
        <p:nvSpPr>
          <p:cNvPr id="12" name="Text 10"/>
          <p:cNvSpPr/>
          <p:nvPr/>
        </p:nvSpPr>
        <p:spPr>
          <a:xfrm>
            <a:off x="548640" y="3703320"/>
            <a:ext cx="5669280" cy="457200"/>
          </a:xfrm>
          <a:prstGeom prst="rect">
            <a:avLst/>
          </a:prstGeom>
          <a:noFill/>
          <a:ln/>
        </p:spPr>
        <p:txBody>
          <a:bodyPr wrap="square" lIns="0" tIns="0" rIns="0" bIns="0" rtlCol="0" anchor="ctr"/>
          <a:lstStyle/>
          <a:p>
            <a:pPr indent="0" marL="0">
              <a:buNone/>
            </a:pPr>
            <a:r>
              <a:rPr lang="en-US" sz="1900" b="1" i="1" dirty="0">
                <a:solidFill>
                  <a:srgbClr val="C9A84C"/>
                </a:solidFill>
                <a:latin typeface="Cambria" pitchFamily="34" charset="0"/>
                <a:ea typeface="Cambria" pitchFamily="34" charset="-122"/>
                <a:cs typeface="Cambria" pitchFamily="34" charset="-120"/>
              </a:rPr>
              <a:t>“Guiding your journey.”</a:t>
            </a:r>
            <a:endParaRPr lang="en-US" sz="1900" dirty="0"/>
          </a:p>
        </p:txBody>
      </p:sp>
      <p:sp>
        <p:nvSpPr>
          <p:cNvPr id="13" name="Text 11"/>
          <p:cNvSpPr/>
          <p:nvPr/>
        </p:nvSpPr>
        <p:spPr>
          <a:xfrm>
            <a:off x="548640" y="4251960"/>
            <a:ext cx="5806440" cy="1051560"/>
          </a:xfrm>
          <a:prstGeom prst="rect">
            <a:avLst/>
          </a:prstGeom>
          <a:noFill/>
          <a:ln/>
        </p:spPr>
        <p:txBody>
          <a:bodyPr wrap="square" lIns="0" tIns="0" rIns="0" bIns="0" rtlCol="0" anchor="ctr"/>
          <a:lstStyle/>
          <a:p>
            <a:pPr indent="0" marL="0">
              <a:lnSpc>
                <a:spcPct val="125000"/>
              </a:lnSpc>
              <a:buNone/>
            </a:pPr>
            <a:r>
              <a:rPr lang="en-US" sz="1250" dirty="0">
                <a:solidFill>
                  <a:srgbClr val="DCD6C6"/>
                </a:solidFill>
                <a:latin typeface="Calibri" pitchFamily="34" charset="0"/>
                <a:ea typeface="Calibri" pitchFamily="34" charset="-122"/>
                <a:cs typeface="Calibri" pitchFamily="34" charset="-120"/>
              </a:rPr>
              <a:t>A pre-launch brand strategy engagement for a Kenyan study-abroad agency — repositioning the business, architecting its operating model, and preparing it to launch into an underserved market.</a:t>
            </a:r>
            <a:endParaRPr lang="en-US" sz="1250" dirty="0"/>
          </a:p>
        </p:txBody>
      </p:sp>
      <p:sp>
        <p:nvSpPr>
          <p:cNvPr id="14" name="Shape 12"/>
          <p:cNvSpPr/>
          <p:nvPr/>
        </p:nvSpPr>
        <p:spPr>
          <a:xfrm>
            <a:off x="548640" y="5532120"/>
            <a:ext cx="2514600" cy="365760"/>
          </a:xfrm>
          <a:prstGeom prst="roundRect">
            <a:avLst>
              <a:gd name="adj" fmla="val 15000"/>
            </a:avLst>
          </a:prstGeom>
          <a:ln w="12700">
            <a:solidFill>
              <a:srgbClr val="C9A84C"/>
            </a:solidFill>
            <a:prstDash val="solid"/>
          </a:ln>
        </p:spPr>
      </p:sp>
      <p:sp>
        <p:nvSpPr>
          <p:cNvPr id="15" name="Text 13"/>
          <p:cNvSpPr/>
          <p:nvPr/>
        </p:nvSpPr>
        <p:spPr>
          <a:xfrm>
            <a:off x="548640" y="5532120"/>
            <a:ext cx="2514600" cy="365760"/>
          </a:xfrm>
          <a:prstGeom prst="rect">
            <a:avLst/>
          </a:prstGeom>
          <a:noFill/>
          <a:ln/>
        </p:spPr>
        <p:txBody>
          <a:bodyPr wrap="square" lIns="0" tIns="0" rIns="0" bIns="0" rtlCol="0" anchor="ctr"/>
          <a:lstStyle/>
          <a:p>
            <a:pPr algn="ctr" indent="0" marL="0">
              <a:buNone/>
            </a:pPr>
            <a:r>
              <a:rPr lang="en-US" sz="900" b="1" spc="50" kern="0" dirty="0">
                <a:solidFill>
                  <a:srgbClr val="F8F5EE"/>
                </a:solidFill>
                <a:latin typeface="Calibri" pitchFamily="34" charset="0"/>
                <a:ea typeface="Calibri" pitchFamily="34" charset="-122"/>
                <a:cs typeface="Calibri" pitchFamily="34" charset="-120"/>
              </a:rPr>
              <a:t>Market Research</a:t>
            </a:r>
            <a:endParaRPr lang="en-US" sz="900" dirty="0"/>
          </a:p>
        </p:txBody>
      </p:sp>
      <p:sp>
        <p:nvSpPr>
          <p:cNvPr id="16" name="Shape 14"/>
          <p:cNvSpPr/>
          <p:nvPr/>
        </p:nvSpPr>
        <p:spPr>
          <a:xfrm>
            <a:off x="3191256" y="5532120"/>
            <a:ext cx="1929384" cy="365760"/>
          </a:xfrm>
          <a:prstGeom prst="roundRect">
            <a:avLst>
              <a:gd name="adj" fmla="val 15000"/>
            </a:avLst>
          </a:prstGeom>
          <a:ln w="12700">
            <a:solidFill>
              <a:srgbClr val="C9A84C"/>
            </a:solidFill>
            <a:prstDash val="solid"/>
          </a:ln>
        </p:spPr>
      </p:sp>
      <p:sp>
        <p:nvSpPr>
          <p:cNvPr id="17" name="Text 15"/>
          <p:cNvSpPr/>
          <p:nvPr/>
        </p:nvSpPr>
        <p:spPr>
          <a:xfrm>
            <a:off x="3191256" y="5532120"/>
            <a:ext cx="1929384" cy="365760"/>
          </a:xfrm>
          <a:prstGeom prst="rect">
            <a:avLst/>
          </a:prstGeom>
          <a:noFill/>
          <a:ln/>
        </p:spPr>
        <p:txBody>
          <a:bodyPr wrap="square" lIns="0" tIns="0" rIns="0" bIns="0" rtlCol="0" anchor="ctr"/>
          <a:lstStyle/>
          <a:p>
            <a:pPr algn="ctr" indent="0" marL="0">
              <a:buNone/>
            </a:pPr>
            <a:r>
              <a:rPr lang="en-US" sz="900" b="1" spc="50" kern="0" dirty="0">
                <a:solidFill>
                  <a:srgbClr val="F8F5EE"/>
                </a:solidFill>
                <a:latin typeface="Calibri" pitchFamily="34" charset="0"/>
                <a:ea typeface="Calibri" pitchFamily="34" charset="-122"/>
                <a:cs typeface="Calibri" pitchFamily="34" charset="-120"/>
              </a:rPr>
              <a:t>Positioning</a:t>
            </a:r>
            <a:endParaRPr lang="en-US" sz="900" dirty="0"/>
          </a:p>
        </p:txBody>
      </p:sp>
      <p:sp>
        <p:nvSpPr>
          <p:cNvPr id="18" name="Shape 16"/>
          <p:cNvSpPr/>
          <p:nvPr/>
        </p:nvSpPr>
        <p:spPr>
          <a:xfrm>
            <a:off x="5248656" y="5532120"/>
            <a:ext cx="1783080" cy="365760"/>
          </a:xfrm>
          <a:prstGeom prst="roundRect">
            <a:avLst>
              <a:gd name="adj" fmla="val 15000"/>
            </a:avLst>
          </a:prstGeom>
          <a:ln w="12700">
            <a:solidFill>
              <a:srgbClr val="C9A84C"/>
            </a:solidFill>
            <a:prstDash val="solid"/>
          </a:ln>
        </p:spPr>
      </p:sp>
      <p:sp>
        <p:nvSpPr>
          <p:cNvPr id="19" name="Text 17"/>
          <p:cNvSpPr/>
          <p:nvPr/>
        </p:nvSpPr>
        <p:spPr>
          <a:xfrm>
            <a:off x="5248656" y="5532120"/>
            <a:ext cx="1783080" cy="365760"/>
          </a:xfrm>
          <a:prstGeom prst="rect">
            <a:avLst/>
          </a:prstGeom>
          <a:noFill/>
          <a:ln/>
        </p:spPr>
        <p:txBody>
          <a:bodyPr wrap="square" lIns="0" tIns="0" rIns="0" bIns="0" rtlCol="0" anchor="ctr"/>
          <a:lstStyle/>
          <a:p>
            <a:pPr algn="ctr" indent="0" marL="0">
              <a:buNone/>
            </a:pPr>
            <a:r>
              <a:rPr lang="en-US" sz="900" b="1" spc="50" kern="0" dirty="0">
                <a:solidFill>
                  <a:srgbClr val="F8F5EE"/>
                </a:solidFill>
                <a:latin typeface="Calibri" pitchFamily="34" charset="0"/>
                <a:ea typeface="Calibri" pitchFamily="34" charset="-122"/>
                <a:cs typeface="Calibri" pitchFamily="34" charset="-120"/>
              </a:rPr>
              <a:t>Operations</a:t>
            </a:r>
            <a:endParaRPr lang="en-US" sz="900" dirty="0"/>
          </a:p>
        </p:txBody>
      </p:sp>
      <p:sp>
        <p:nvSpPr>
          <p:cNvPr id="20" name="Shape 18"/>
          <p:cNvSpPr/>
          <p:nvPr/>
        </p:nvSpPr>
        <p:spPr>
          <a:xfrm>
            <a:off x="7159752" y="5532120"/>
            <a:ext cx="2075688" cy="365760"/>
          </a:xfrm>
          <a:prstGeom prst="roundRect">
            <a:avLst>
              <a:gd name="adj" fmla="val 15000"/>
            </a:avLst>
          </a:prstGeom>
          <a:ln w="12700">
            <a:solidFill>
              <a:srgbClr val="C9A84C"/>
            </a:solidFill>
            <a:prstDash val="solid"/>
          </a:ln>
        </p:spPr>
      </p:sp>
      <p:sp>
        <p:nvSpPr>
          <p:cNvPr id="21" name="Text 19"/>
          <p:cNvSpPr/>
          <p:nvPr/>
        </p:nvSpPr>
        <p:spPr>
          <a:xfrm>
            <a:off x="7159752" y="5532120"/>
            <a:ext cx="2075688" cy="365760"/>
          </a:xfrm>
          <a:prstGeom prst="rect">
            <a:avLst/>
          </a:prstGeom>
          <a:noFill/>
          <a:ln/>
        </p:spPr>
        <p:txBody>
          <a:bodyPr wrap="square" lIns="0" tIns="0" rIns="0" bIns="0" rtlCol="0" anchor="ctr"/>
          <a:lstStyle/>
          <a:p>
            <a:pPr algn="ctr" indent="0" marL="0">
              <a:buNone/>
            </a:pPr>
            <a:r>
              <a:rPr lang="en-US" sz="900" b="1" spc="50" kern="0" dirty="0">
                <a:solidFill>
                  <a:srgbClr val="F8F5EE"/>
                </a:solidFill>
                <a:latin typeface="Calibri" pitchFamily="34" charset="0"/>
                <a:ea typeface="Calibri" pitchFamily="34" charset="-122"/>
                <a:cs typeface="Calibri" pitchFamily="34" charset="-120"/>
              </a:rPr>
              <a:t>Go-to-Market</a:t>
            </a:r>
            <a:endParaRPr lang="en-US" sz="900" dirty="0"/>
          </a:p>
        </p:txBody>
      </p:sp>
      <p:sp>
        <p:nvSpPr>
          <p:cNvPr id="22" name="Shape 20"/>
          <p:cNvSpPr/>
          <p:nvPr/>
        </p:nvSpPr>
        <p:spPr>
          <a:xfrm>
            <a:off x="9363456" y="5532120"/>
            <a:ext cx="1490472" cy="365760"/>
          </a:xfrm>
          <a:prstGeom prst="roundRect">
            <a:avLst>
              <a:gd name="adj" fmla="val 15000"/>
            </a:avLst>
          </a:prstGeom>
          <a:ln w="12700">
            <a:solidFill>
              <a:srgbClr val="C9A84C"/>
            </a:solidFill>
            <a:prstDash val="solid"/>
          </a:ln>
        </p:spPr>
      </p:sp>
      <p:sp>
        <p:nvSpPr>
          <p:cNvPr id="23" name="Text 21"/>
          <p:cNvSpPr/>
          <p:nvPr/>
        </p:nvSpPr>
        <p:spPr>
          <a:xfrm>
            <a:off x="9363456" y="5532120"/>
            <a:ext cx="1490472" cy="365760"/>
          </a:xfrm>
          <a:prstGeom prst="rect">
            <a:avLst/>
          </a:prstGeom>
          <a:noFill/>
          <a:ln/>
        </p:spPr>
        <p:txBody>
          <a:bodyPr wrap="square" lIns="0" tIns="0" rIns="0" bIns="0" rtlCol="0" anchor="ctr"/>
          <a:lstStyle/>
          <a:p>
            <a:pPr algn="ctr" indent="0" marL="0">
              <a:buNone/>
            </a:pPr>
            <a:r>
              <a:rPr lang="en-US" sz="900" b="1" spc="50" kern="0" dirty="0">
                <a:solidFill>
                  <a:srgbClr val="F8F5EE"/>
                </a:solidFill>
                <a:latin typeface="Calibri" pitchFamily="34" charset="0"/>
                <a:ea typeface="Calibri" pitchFamily="34" charset="-122"/>
                <a:cs typeface="Calibri" pitchFamily="34" charset="-120"/>
              </a:rPr>
              <a:t>Identity</a:t>
            </a:r>
            <a:endParaRPr lang="en-US" sz="900" dirty="0"/>
          </a:p>
        </p:txBody>
      </p:sp>
      <p:sp>
        <p:nvSpPr>
          <p:cNvPr id="24" name="Shape 22"/>
          <p:cNvSpPr/>
          <p:nvPr/>
        </p:nvSpPr>
        <p:spPr>
          <a:xfrm>
            <a:off x="7635240" y="1417320"/>
            <a:ext cx="3977640" cy="3977640"/>
          </a:xfrm>
          <a:prstGeom prst="rect">
            <a:avLst/>
          </a:prstGeom>
          <a:ln w="12700">
            <a:solidFill>
              <a:srgbClr val="C9A84C"/>
            </a:solidFill>
            <a:prstDash val="solid"/>
          </a:ln>
        </p:spPr>
      </p:sp>
      <p:pic>
        <p:nvPicPr>
          <p:cNvPr id="25" name="Image 0" descr="/home/claude/assets/polaris_dark.png">    </p:cNvPr>
          <p:cNvPicPr>
            <a:picLocks noChangeAspect="1"/>
          </p:cNvPicPr>
          <p:nvPr/>
        </p:nvPicPr>
        <p:blipFill>
          <a:blip r:embed="rId1"/>
          <a:stretch>
            <a:fillRect/>
          </a:stretch>
        </p:blipFill>
        <p:spPr>
          <a:xfrm>
            <a:off x="7726680" y="1508760"/>
            <a:ext cx="3794760" cy="3794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548640" y="237744"/>
            <a:ext cx="2011680" cy="310896"/>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Portfolio</a:t>
            </a:r>
            <a:endParaRPr lang="en-US" sz="1300" dirty="0"/>
          </a:p>
        </p:txBody>
      </p:sp>
      <p:sp>
        <p:nvSpPr>
          <p:cNvPr id="3" name="Text 1"/>
          <p:cNvSpPr/>
          <p:nvPr/>
        </p:nvSpPr>
        <p:spPr>
          <a:xfrm>
            <a:off x="8366760" y="237744"/>
            <a:ext cx="777240" cy="310896"/>
          </a:xfrm>
          <a:prstGeom prst="rect">
            <a:avLst/>
          </a:prstGeom>
          <a:noFill/>
          <a:ln/>
        </p:spPr>
        <p:txBody>
          <a:bodyPr wrap="square" lIns="0" tIns="0" rIns="0" bIns="0" rtlCol="0" anchor="ctr"/>
          <a:lstStyle/>
          <a:p>
            <a:pPr algn="l" indent="0" marL="0">
              <a:buNone/>
            </a:pPr>
            <a:r>
              <a:rPr lang="en-US" sz="1100" dirty="0">
                <a:solidFill>
                  <a:srgbClr val="9297A8"/>
                </a:solidFill>
                <a:latin typeface="Calibri" pitchFamily="34" charset="0"/>
                <a:ea typeface="Calibri" pitchFamily="34" charset="-122"/>
                <a:cs typeface="Calibri" pitchFamily="34" charset="-120"/>
              </a:rPr>
              <a:t>Home</a:t>
            </a:r>
            <a:endParaRPr lang="en-US" sz="1100" dirty="0"/>
          </a:p>
        </p:txBody>
      </p:sp>
      <p:sp>
        <p:nvSpPr>
          <p:cNvPr id="4" name="Text 2"/>
          <p:cNvSpPr/>
          <p:nvPr/>
        </p:nvSpPr>
        <p:spPr>
          <a:xfrm>
            <a:off x="9281160" y="237744"/>
            <a:ext cx="1234440" cy="310896"/>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Case Studies</a:t>
            </a:r>
            <a:endParaRPr lang="en-US" sz="1100" dirty="0"/>
          </a:p>
        </p:txBody>
      </p:sp>
      <p:sp>
        <p:nvSpPr>
          <p:cNvPr id="5" name="Shape 3"/>
          <p:cNvSpPr/>
          <p:nvPr/>
        </p:nvSpPr>
        <p:spPr>
          <a:xfrm>
            <a:off x="9281160" y="548640"/>
            <a:ext cx="1097280" cy="0"/>
          </a:xfrm>
          <a:prstGeom prst="line">
            <a:avLst/>
          </a:prstGeom>
          <a:noFill/>
          <a:ln w="19050">
            <a:solidFill>
              <a:srgbClr val="C9A84C"/>
            </a:solidFill>
            <a:prstDash val="solid"/>
          </a:ln>
        </p:spPr>
      </p:sp>
      <p:sp>
        <p:nvSpPr>
          <p:cNvPr id="6" name="Text 4"/>
          <p:cNvSpPr/>
          <p:nvPr/>
        </p:nvSpPr>
        <p:spPr>
          <a:xfrm>
            <a:off x="10652760" y="237744"/>
            <a:ext cx="1005840" cy="310896"/>
          </a:xfrm>
          <a:prstGeom prst="rect">
            <a:avLst/>
          </a:prstGeom>
          <a:noFill/>
          <a:ln/>
        </p:spPr>
        <p:txBody>
          <a:bodyPr wrap="square" lIns="0" tIns="0" rIns="0" bIns="0" rtlCol="0" anchor="ctr"/>
          <a:lstStyle/>
          <a:p>
            <a:pPr algn="l" indent="0" marL="0">
              <a:buNone/>
            </a:pPr>
            <a:r>
              <a:rPr lang="en-US" sz="1100" dirty="0">
                <a:solidFill>
                  <a:srgbClr val="9297A8"/>
                </a:solidFill>
                <a:latin typeface="Calibri" pitchFamily="34" charset="0"/>
                <a:ea typeface="Calibri" pitchFamily="34" charset="-122"/>
                <a:cs typeface="Calibri" pitchFamily="34" charset="-120"/>
              </a:rPr>
              <a:t>Outcomes</a:t>
            </a:r>
            <a:endParaRPr lang="en-US" sz="1100" dirty="0"/>
          </a:p>
        </p:txBody>
      </p:sp>
      <p:sp>
        <p:nvSpPr>
          <p:cNvPr id="7" name="Shape 5"/>
          <p:cNvSpPr/>
          <p:nvPr/>
        </p:nvSpPr>
        <p:spPr>
          <a:xfrm>
            <a:off x="548640" y="731520"/>
            <a:ext cx="11094415" cy="0"/>
          </a:xfrm>
          <a:prstGeom prst="line">
            <a:avLst/>
          </a:prstGeom>
          <a:noFill/>
          <a:ln w="9525">
            <a:solidFill>
              <a:srgbClr val="D8D2C2"/>
            </a:solidFill>
            <a:prstDash val="solid"/>
          </a:ln>
        </p:spPr>
      </p:sp>
      <p:sp>
        <p:nvSpPr>
          <p:cNvPr id="8" name="Text 6"/>
          <p:cNvSpPr/>
          <p:nvPr/>
        </p:nvSpPr>
        <p:spPr>
          <a:xfrm>
            <a:off x="548640" y="6473952"/>
            <a:ext cx="2926080" cy="274320"/>
          </a:xfrm>
          <a:prstGeom prst="rect">
            <a:avLst/>
          </a:prstGeom>
          <a:noFill/>
          <a:ln/>
        </p:spPr>
        <p:txBody>
          <a:bodyPr wrap="square" lIns="0" tIns="0" rIns="0" bIns="0" rtlCol="0" anchor="ctr"/>
          <a:lstStyle/>
          <a:p>
            <a:pPr indent="0" marL="0">
              <a:buNone/>
            </a:pPr>
            <a:r>
              <a:rPr lang="en-US" sz="900" dirty="0">
                <a:solidFill>
                  <a:srgbClr val="9297A8"/>
                </a:solidFill>
                <a:latin typeface="Calibri" pitchFamily="34" charset="0"/>
                <a:ea typeface="Calibri" pitchFamily="34" charset="-122"/>
                <a:cs typeface="Calibri" pitchFamily="34" charset="-120"/>
              </a:rPr>
              <a:t>www.jktellsstories.africa</a:t>
            </a:r>
            <a:endParaRPr lang="en-US" sz="900" dirty="0"/>
          </a:p>
        </p:txBody>
      </p:sp>
      <p:sp>
        <p:nvSpPr>
          <p:cNvPr id="9" name="Text 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297A8"/>
                </a:solidFill>
                <a:latin typeface="Calibri" pitchFamily="34" charset="0"/>
                <a:ea typeface="Calibri" pitchFamily="34" charset="-122"/>
                <a:cs typeface="Calibri" pitchFamily="34" charset="-120"/>
              </a:rPr>
              <a:t>2</a:t>
            </a:r>
            <a:endParaRPr lang="en-US" sz="900" dirty="0"/>
          </a:p>
        </p:txBody>
      </p:sp>
      <p:sp>
        <p:nvSpPr>
          <p:cNvPr id="10" name="Shape 8"/>
          <p:cNvSpPr/>
          <p:nvPr/>
        </p:nvSpPr>
        <p:spPr>
          <a:xfrm>
            <a:off x="530352" y="1033272"/>
            <a:ext cx="3602736" cy="3602736"/>
          </a:xfrm>
          <a:prstGeom prst="rect">
            <a:avLst/>
          </a:prstGeom>
          <a:ln w="12700">
            <a:solidFill>
              <a:srgbClr val="C9A84C"/>
            </a:solidFill>
            <a:prstDash val="solid"/>
          </a:ln>
        </p:spPr>
      </p:sp>
      <p:pic>
        <p:nvPicPr>
          <p:cNvPr id="11" name="Image 0" descr="/home/claude/assets/polaris_dark.png">    </p:cNvPr>
          <p:cNvPicPr>
            <a:picLocks noChangeAspect="1"/>
          </p:cNvPicPr>
          <p:nvPr/>
        </p:nvPicPr>
        <p:blipFill>
          <a:blip r:embed="rId1"/>
          <a:stretch>
            <a:fillRect/>
          </a:stretch>
        </p:blipFill>
        <p:spPr>
          <a:xfrm>
            <a:off x="548640" y="1051560"/>
            <a:ext cx="3566160" cy="3566160"/>
          </a:xfrm>
          <a:prstGeom prst="rect">
            <a:avLst/>
          </a:prstGeom>
        </p:spPr>
      </p:pic>
      <p:sp>
        <p:nvSpPr>
          <p:cNvPr id="12" name="Shape 9"/>
          <p:cNvSpPr/>
          <p:nvPr/>
        </p:nvSpPr>
        <p:spPr>
          <a:xfrm>
            <a:off x="548640" y="4773168"/>
            <a:ext cx="1127760" cy="347472"/>
          </a:xfrm>
          <a:prstGeom prst="roundRect">
            <a:avLst>
              <a:gd name="adj" fmla="val 15789"/>
            </a:avLst>
          </a:prstGeom>
          <a:solidFill>
            <a:srgbClr val="0D1B3E"/>
          </a:solidFill>
          <a:ln/>
        </p:spPr>
      </p:sp>
      <p:sp>
        <p:nvSpPr>
          <p:cNvPr id="13" name="Text 10"/>
          <p:cNvSpPr/>
          <p:nvPr/>
        </p:nvSpPr>
        <p:spPr>
          <a:xfrm>
            <a:off x="548640" y="4773168"/>
            <a:ext cx="1127760" cy="347472"/>
          </a:xfrm>
          <a:prstGeom prst="rect">
            <a:avLst/>
          </a:prstGeom>
          <a:noFill/>
          <a:ln/>
        </p:spPr>
        <p:txBody>
          <a:bodyPr wrap="square" lIns="0" tIns="0" rIns="0" bIns="0" rtlCol="0" anchor="ctr"/>
          <a:lstStyle/>
          <a:p>
            <a:pPr algn="ctr" indent="0" marL="0">
              <a:buNone/>
            </a:pPr>
            <a:r>
              <a:rPr lang="en-US" sz="900" b="1" spc="50" kern="0" dirty="0">
                <a:solidFill>
                  <a:srgbClr val="F8F5EE"/>
                </a:solidFill>
                <a:latin typeface="Calibri" pitchFamily="34" charset="0"/>
                <a:ea typeface="Calibri" pitchFamily="34" charset="-122"/>
                <a:cs typeface="Calibri" pitchFamily="34" charset="-120"/>
              </a:rPr>
              <a:t>Research</a:t>
            </a:r>
            <a:endParaRPr lang="en-US" sz="900" dirty="0"/>
          </a:p>
        </p:txBody>
      </p:sp>
      <p:sp>
        <p:nvSpPr>
          <p:cNvPr id="14" name="Shape 11"/>
          <p:cNvSpPr/>
          <p:nvPr/>
        </p:nvSpPr>
        <p:spPr>
          <a:xfrm>
            <a:off x="1767840" y="4773168"/>
            <a:ext cx="1127760" cy="347472"/>
          </a:xfrm>
          <a:prstGeom prst="roundRect">
            <a:avLst>
              <a:gd name="adj" fmla="val 15789"/>
            </a:avLst>
          </a:prstGeom>
          <a:solidFill>
            <a:srgbClr val="0D1B3E"/>
          </a:solidFill>
          <a:ln/>
        </p:spPr>
      </p:sp>
      <p:sp>
        <p:nvSpPr>
          <p:cNvPr id="15" name="Text 12"/>
          <p:cNvSpPr/>
          <p:nvPr/>
        </p:nvSpPr>
        <p:spPr>
          <a:xfrm>
            <a:off x="1767840" y="4773168"/>
            <a:ext cx="1127760" cy="347472"/>
          </a:xfrm>
          <a:prstGeom prst="rect">
            <a:avLst/>
          </a:prstGeom>
          <a:noFill/>
          <a:ln/>
        </p:spPr>
        <p:txBody>
          <a:bodyPr wrap="square" lIns="0" tIns="0" rIns="0" bIns="0" rtlCol="0" anchor="ctr"/>
          <a:lstStyle/>
          <a:p>
            <a:pPr algn="ctr" indent="0" marL="0">
              <a:buNone/>
            </a:pPr>
            <a:r>
              <a:rPr lang="en-US" sz="900" b="1" spc="50" kern="0" dirty="0">
                <a:solidFill>
                  <a:srgbClr val="F8F5EE"/>
                </a:solidFill>
                <a:latin typeface="Calibri" pitchFamily="34" charset="0"/>
                <a:ea typeface="Calibri" pitchFamily="34" charset="-122"/>
                <a:cs typeface="Calibri" pitchFamily="34" charset="-120"/>
              </a:rPr>
              <a:t>Positioning</a:t>
            </a:r>
            <a:endParaRPr lang="en-US" sz="900" dirty="0"/>
          </a:p>
        </p:txBody>
      </p:sp>
      <p:sp>
        <p:nvSpPr>
          <p:cNvPr id="16" name="Shape 13"/>
          <p:cNvSpPr/>
          <p:nvPr/>
        </p:nvSpPr>
        <p:spPr>
          <a:xfrm>
            <a:off x="2987040" y="4773168"/>
            <a:ext cx="1127760" cy="347472"/>
          </a:xfrm>
          <a:prstGeom prst="roundRect">
            <a:avLst>
              <a:gd name="adj" fmla="val 15789"/>
            </a:avLst>
          </a:prstGeom>
          <a:solidFill>
            <a:srgbClr val="0D1B3E"/>
          </a:solidFill>
          <a:ln/>
        </p:spPr>
      </p:sp>
      <p:sp>
        <p:nvSpPr>
          <p:cNvPr id="17" name="Text 14"/>
          <p:cNvSpPr/>
          <p:nvPr/>
        </p:nvSpPr>
        <p:spPr>
          <a:xfrm>
            <a:off x="2987040" y="4773168"/>
            <a:ext cx="1127760" cy="347472"/>
          </a:xfrm>
          <a:prstGeom prst="rect">
            <a:avLst/>
          </a:prstGeom>
          <a:noFill/>
          <a:ln/>
        </p:spPr>
        <p:txBody>
          <a:bodyPr wrap="square" lIns="0" tIns="0" rIns="0" bIns="0" rtlCol="0" anchor="ctr"/>
          <a:lstStyle/>
          <a:p>
            <a:pPr algn="ctr" indent="0" marL="0">
              <a:buNone/>
            </a:pPr>
            <a:r>
              <a:rPr lang="en-US" sz="900" b="1" spc="50" kern="0" dirty="0">
                <a:solidFill>
                  <a:srgbClr val="F8F5EE"/>
                </a:solidFill>
                <a:latin typeface="Calibri" pitchFamily="34" charset="0"/>
                <a:ea typeface="Calibri" pitchFamily="34" charset="-122"/>
                <a:cs typeface="Calibri" pitchFamily="34" charset="-120"/>
              </a:rPr>
              <a:t>Operations</a:t>
            </a:r>
            <a:endParaRPr lang="en-US" sz="900" dirty="0"/>
          </a:p>
        </p:txBody>
      </p:sp>
      <p:sp>
        <p:nvSpPr>
          <p:cNvPr id="18" name="Shape 15"/>
          <p:cNvSpPr/>
          <p:nvPr/>
        </p:nvSpPr>
        <p:spPr>
          <a:xfrm>
            <a:off x="548640" y="5212080"/>
            <a:ext cx="1714500" cy="347472"/>
          </a:xfrm>
          <a:prstGeom prst="roundRect">
            <a:avLst>
              <a:gd name="adj" fmla="val 15789"/>
            </a:avLst>
          </a:prstGeom>
          <a:solidFill>
            <a:srgbClr val="0D1B3E"/>
          </a:solidFill>
          <a:ln/>
        </p:spPr>
      </p:sp>
      <p:sp>
        <p:nvSpPr>
          <p:cNvPr id="19" name="Text 16"/>
          <p:cNvSpPr/>
          <p:nvPr/>
        </p:nvSpPr>
        <p:spPr>
          <a:xfrm>
            <a:off x="548640" y="5212080"/>
            <a:ext cx="1714500" cy="347472"/>
          </a:xfrm>
          <a:prstGeom prst="rect">
            <a:avLst/>
          </a:prstGeom>
          <a:noFill/>
          <a:ln/>
        </p:spPr>
        <p:txBody>
          <a:bodyPr wrap="square" lIns="0" tIns="0" rIns="0" bIns="0" rtlCol="0" anchor="ctr"/>
          <a:lstStyle/>
          <a:p>
            <a:pPr algn="ctr" indent="0" marL="0">
              <a:buNone/>
            </a:pPr>
            <a:r>
              <a:rPr lang="en-US" sz="900" b="1" spc="50" kern="0" dirty="0">
                <a:solidFill>
                  <a:srgbClr val="F8F5EE"/>
                </a:solidFill>
                <a:latin typeface="Calibri" pitchFamily="34" charset="0"/>
                <a:ea typeface="Calibri" pitchFamily="34" charset="-122"/>
                <a:cs typeface="Calibri" pitchFamily="34" charset="-120"/>
              </a:rPr>
              <a:t>Go-to-Market</a:t>
            </a:r>
            <a:endParaRPr lang="en-US" sz="900" dirty="0"/>
          </a:p>
        </p:txBody>
      </p:sp>
      <p:sp>
        <p:nvSpPr>
          <p:cNvPr id="20" name="Shape 17"/>
          <p:cNvSpPr/>
          <p:nvPr/>
        </p:nvSpPr>
        <p:spPr>
          <a:xfrm>
            <a:off x="2400300" y="5212080"/>
            <a:ext cx="1714500" cy="347472"/>
          </a:xfrm>
          <a:prstGeom prst="roundRect">
            <a:avLst>
              <a:gd name="adj" fmla="val 15789"/>
            </a:avLst>
          </a:prstGeom>
          <a:solidFill>
            <a:srgbClr val="0D1B3E"/>
          </a:solidFill>
          <a:ln/>
        </p:spPr>
      </p:sp>
      <p:sp>
        <p:nvSpPr>
          <p:cNvPr id="21" name="Text 18"/>
          <p:cNvSpPr/>
          <p:nvPr/>
        </p:nvSpPr>
        <p:spPr>
          <a:xfrm>
            <a:off x="2400300" y="5212080"/>
            <a:ext cx="1714500" cy="347472"/>
          </a:xfrm>
          <a:prstGeom prst="rect">
            <a:avLst/>
          </a:prstGeom>
          <a:noFill/>
          <a:ln/>
        </p:spPr>
        <p:txBody>
          <a:bodyPr wrap="square" lIns="0" tIns="0" rIns="0" bIns="0" rtlCol="0" anchor="ctr"/>
          <a:lstStyle/>
          <a:p>
            <a:pPr algn="ctr" indent="0" marL="0">
              <a:buNone/>
            </a:pPr>
            <a:r>
              <a:rPr lang="en-US" sz="900" b="1" spc="50" kern="0" dirty="0">
                <a:solidFill>
                  <a:srgbClr val="F8F5EE"/>
                </a:solidFill>
                <a:latin typeface="Calibri" pitchFamily="34" charset="0"/>
                <a:ea typeface="Calibri" pitchFamily="34" charset="-122"/>
                <a:cs typeface="Calibri" pitchFamily="34" charset="-120"/>
              </a:rPr>
              <a:t>Identity</a:t>
            </a:r>
            <a:endParaRPr lang="en-US" sz="900" dirty="0"/>
          </a:p>
        </p:txBody>
      </p:sp>
      <p:sp>
        <p:nvSpPr>
          <p:cNvPr id="22" name="Shape 19"/>
          <p:cNvSpPr/>
          <p:nvPr/>
        </p:nvSpPr>
        <p:spPr>
          <a:xfrm>
            <a:off x="4434840" y="1051560"/>
            <a:ext cx="7205472" cy="5349240"/>
          </a:xfrm>
          <a:prstGeom prst="rect">
            <a:avLst/>
          </a:prstGeom>
          <a:solidFill>
            <a:srgbClr val="FCFBF7"/>
          </a:solidFill>
          <a:ln w="12700">
            <a:solidFill>
              <a:srgbClr val="D8D2C2"/>
            </a:solidFill>
            <a:prstDash val="solid"/>
          </a:ln>
        </p:spPr>
      </p:sp>
      <p:sp>
        <p:nvSpPr>
          <p:cNvPr id="23" name="Text 20"/>
          <p:cNvSpPr/>
          <p:nvPr/>
        </p:nvSpPr>
        <p:spPr>
          <a:xfrm>
            <a:off x="4754880" y="1325880"/>
            <a:ext cx="6565392" cy="310896"/>
          </a:xfrm>
          <a:prstGeom prst="rect">
            <a:avLst/>
          </a:prstGeom>
          <a:noFill/>
          <a:ln/>
        </p:spPr>
        <p:txBody>
          <a:bodyPr wrap="square" lIns="0" tIns="0" rIns="0" bIns="0" rtlCol="0" anchor="ctr"/>
          <a:lstStyle/>
          <a:p>
            <a:pPr indent="0" marL="0">
              <a:buNone/>
            </a:pPr>
            <a:r>
              <a:rPr lang="en-US" sz="1350" b="1" dirty="0">
                <a:solidFill>
                  <a:srgbClr val="C9A84C"/>
                </a:solidFill>
                <a:latin typeface="Calibri" pitchFamily="34" charset="0"/>
                <a:ea typeface="Calibri" pitchFamily="34" charset="-122"/>
                <a:cs typeface="Calibri" pitchFamily="34" charset="-120"/>
              </a:rPr>
              <a:t>Category: </a:t>
            </a:r>
            <a:pPr indent="0" marL="0">
              <a:buNone/>
            </a:pPr>
            <a:r>
              <a:rPr lang="en-US" sz="1350" b="1" dirty="0">
                <a:solidFill>
                  <a:srgbClr val="0D1B3E"/>
                </a:solidFill>
                <a:latin typeface="Calibri" pitchFamily="34" charset="0"/>
                <a:ea typeface="Calibri" pitchFamily="34" charset="-122"/>
                <a:cs typeface="Calibri" pitchFamily="34" charset="-120"/>
              </a:rPr>
              <a:t>Brand Strategy.</a:t>
            </a:r>
            <a:endParaRPr lang="en-US" sz="1350" dirty="0"/>
          </a:p>
        </p:txBody>
      </p:sp>
      <p:sp>
        <p:nvSpPr>
          <p:cNvPr id="24" name="Text 21"/>
          <p:cNvSpPr/>
          <p:nvPr/>
        </p:nvSpPr>
        <p:spPr>
          <a:xfrm>
            <a:off x="4754880" y="1709928"/>
            <a:ext cx="6565392" cy="566928"/>
          </a:xfrm>
          <a:prstGeom prst="rect">
            <a:avLst/>
          </a:prstGeom>
          <a:noFill/>
          <a:ln/>
        </p:spPr>
        <p:txBody>
          <a:bodyPr wrap="square" lIns="0" tIns="0" rIns="0" bIns="0" rtlCol="0" anchor="t"/>
          <a:lstStyle/>
          <a:p>
            <a:pPr indent="0" marL="0">
              <a:lnSpc>
                <a:spcPct val="112000"/>
              </a:lnSpc>
              <a:buNone/>
            </a:pPr>
            <a:r>
              <a:rPr lang="en-US" sz="1350" b="1" dirty="0">
                <a:solidFill>
                  <a:srgbClr val="C9A84C"/>
                </a:solidFill>
                <a:latin typeface="Calibri" pitchFamily="34" charset="0"/>
                <a:ea typeface="Calibri" pitchFamily="34" charset="-122"/>
                <a:cs typeface="Calibri" pitchFamily="34" charset="-120"/>
              </a:rPr>
              <a:t>Scope: </a:t>
            </a:r>
            <a:pPr indent="0" marL="0">
              <a:lnSpc>
                <a:spcPct val="112000"/>
              </a:lnSpc>
              <a:buNone/>
            </a:pPr>
            <a:r>
              <a:rPr lang="en-US" sz="1350" b="1" dirty="0">
                <a:solidFill>
                  <a:srgbClr val="0D1B3E"/>
                </a:solidFill>
                <a:latin typeface="Calibri" pitchFamily="34" charset="0"/>
                <a:ea typeface="Calibri" pitchFamily="34" charset="-122"/>
                <a:cs typeface="Calibri" pitchFamily="34" charset="-120"/>
              </a:rPr>
              <a:t>Market Research, Positioning Strategy, Operational Strategy, Go-to-Market Strategy, Brand Identity.</a:t>
            </a:r>
            <a:endParaRPr lang="en-US" sz="1350" dirty="0"/>
          </a:p>
        </p:txBody>
      </p:sp>
      <p:sp>
        <p:nvSpPr>
          <p:cNvPr id="25" name="Text 22"/>
          <p:cNvSpPr/>
          <p:nvPr/>
        </p:nvSpPr>
        <p:spPr>
          <a:xfrm>
            <a:off x="4754880" y="2423160"/>
            <a:ext cx="6565392" cy="1051560"/>
          </a:xfrm>
          <a:prstGeom prst="rect">
            <a:avLst/>
          </a:prstGeom>
          <a:noFill/>
          <a:ln/>
        </p:spPr>
        <p:txBody>
          <a:bodyPr wrap="square" lIns="0" tIns="0" rIns="0" bIns="0" rtlCol="0" anchor="ctr"/>
          <a:lstStyle/>
          <a:p>
            <a:pPr indent="0" marL="0">
              <a:lnSpc>
                <a:spcPct val="128000"/>
              </a:lnSpc>
              <a:buNone/>
            </a:pPr>
            <a:r>
              <a:rPr lang="en-US" sz="1250" dirty="0">
                <a:solidFill>
                  <a:srgbClr val="44506B"/>
                </a:solidFill>
                <a:latin typeface="Calibri" pitchFamily="34" charset="0"/>
                <a:ea typeface="Calibri" pitchFamily="34" charset="-122"/>
                <a:cs typeface="Calibri" pitchFamily="34" charset="-120"/>
              </a:rPr>
              <a:t>Kenyan study abroad agencies heavily saturate the same territory: Nairobi, and the traditional UK/US/Canada routes. Polaris approached us pre-launch with a singular brief — find where they belong in this highly competitive market.</a:t>
            </a:r>
            <a:endParaRPr lang="en-US" sz="1250" dirty="0"/>
          </a:p>
        </p:txBody>
      </p:sp>
      <p:sp>
        <p:nvSpPr>
          <p:cNvPr id="26" name="Shape 23"/>
          <p:cNvSpPr/>
          <p:nvPr/>
        </p:nvSpPr>
        <p:spPr>
          <a:xfrm>
            <a:off x="4754880" y="3630168"/>
            <a:ext cx="6565392" cy="0"/>
          </a:xfrm>
          <a:prstGeom prst="line">
            <a:avLst/>
          </a:prstGeom>
          <a:noFill/>
          <a:ln w="15875">
            <a:solidFill>
              <a:srgbClr val="0D1B3E"/>
            </a:solidFill>
            <a:prstDash val="solid"/>
          </a:ln>
        </p:spPr>
      </p:sp>
      <p:sp>
        <p:nvSpPr>
          <p:cNvPr id="27" name="Text 24"/>
          <p:cNvSpPr/>
          <p:nvPr/>
        </p:nvSpPr>
        <p:spPr>
          <a:xfrm>
            <a:off x="4754880" y="3831336"/>
            <a:ext cx="2743200" cy="365760"/>
          </a:xfrm>
          <a:prstGeom prst="rect">
            <a:avLst/>
          </a:prstGeom>
          <a:noFill/>
          <a:ln/>
        </p:spPr>
        <p:txBody>
          <a:bodyPr wrap="square" lIns="0" tIns="0" rIns="0" bIns="0" rtlCol="0" anchor="ctr"/>
          <a:lstStyle/>
          <a:p>
            <a:pPr indent="0" marL="0">
              <a:buNone/>
            </a:pPr>
            <a:r>
              <a:rPr lang="en-US" sz="1900" b="1" dirty="0">
                <a:solidFill>
                  <a:srgbClr val="0D1B3E"/>
                </a:solidFill>
                <a:latin typeface="Cambria" pitchFamily="34" charset="0"/>
                <a:ea typeface="Cambria" pitchFamily="34" charset="-122"/>
                <a:cs typeface="Cambria" pitchFamily="34" charset="-120"/>
              </a:rPr>
              <a:t>Insight.</a:t>
            </a:r>
            <a:endParaRPr lang="en-US" sz="1900" dirty="0"/>
          </a:p>
        </p:txBody>
      </p:sp>
      <p:sp>
        <p:nvSpPr>
          <p:cNvPr id="28" name="Text 25"/>
          <p:cNvSpPr/>
          <p:nvPr/>
        </p:nvSpPr>
        <p:spPr>
          <a:xfrm>
            <a:off x="4754880" y="4251960"/>
            <a:ext cx="6565392" cy="1691640"/>
          </a:xfrm>
          <a:prstGeom prst="rect">
            <a:avLst/>
          </a:prstGeom>
          <a:noFill/>
          <a:ln/>
        </p:spPr>
        <p:txBody>
          <a:bodyPr wrap="square" lIns="0" tIns="0" rIns="0" bIns="0" rtlCol="0" anchor="ctr"/>
          <a:lstStyle/>
          <a:p>
            <a:pPr indent="0" marL="0">
              <a:lnSpc>
                <a:spcPct val="126000"/>
              </a:lnSpc>
              <a:buNone/>
            </a:pPr>
            <a:r>
              <a:rPr lang="en-US" sz="1250" dirty="0">
                <a:solidFill>
                  <a:srgbClr val="44506B"/>
                </a:solidFill>
                <a:latin typeface="Calibri" pitchFamily="34" charset="0"/>
                <a:ea typeface="Calibri" pitchFamily="34" charset="-122"/>
                <a:cs typeface="Calibri" pitchFamily="34" charset="-120"/>
              </a:rPr>
              <a:t>Upon researching the market landscape, two critical gaps stood out. First, Western Kenya — specifically Kisumu and its surrounds — was significantly underserved compared to Nairobi. Second, the continent of Africa was barely being pitched as a viable study destination. The recommendation was a strategic pivot: launch from Kisumu instead of Nairobi, and position elite African institutions as high-value alternatives alongside Western routes.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548640" y="237744"/>
            <a:ext cx="2011680" cy="310896"/>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Portfolio</a:t>
            </a:r>
            <a:endParaRPr lang="en-US" sz="1300" dirty="0"/>
          </a:p>
        </p:txBody>
      </p:sp>
      <p:sp>
        <p:nvSpPr>
          <p:cNvPr id="3" name="Text 1"/>
          <p:cNvSpPr/>
          <p:nvPr/>
        </p:nvSpPr>
        <p:spPr>
          <a:xfrm>
            <a:off x="8366760" y="237744"/>
            <a:ext cx="777240" cy="310896"/>
          </a:xfrm>
          <a:prstGeom prst="rect">
            <a:avLst/>
          </a:prstGeom>
          <a:noFill/>
          <a:ln/>
        </p:spPr>
        <p:txBody>
          <a:bodyPr wrap="square" lIns="0" tIns="0" rIns="0" bIns="0" rtlCol="0" anchor="ctr"/>
          <a:lstStyle/>
          <a:p>
            <a:pPr algn="l" indent="0" marL="0">
              <a:buNone/>
            </a:pPr>
            <a:r>
              <a:rPr lang="en-US" sz="1100" dirty="0">
                <a:solidFill>
                  <a:srgbClr val="9297A8"/>
                </a:solidFill>
                <a:latin typeface="Calibri" pitchFamily="34" charset="0"/>
                <a:ea typeface="Calibri" pitchFamily="34" charset="-122"/>
                <a:cs typeface="Calibri" pitchFamily="34" charset="-120"/>
              </a:rPr>
              <a:t>Home</a:t>
            </a:r>
            <a:endParaRPr lang="en-US" sz="1100" dirty="0"/>
          </a:p>
        </p:txBody>
      </p:sp>
      <p:sp>
        <p:nvSpPr>
          <p:cNvPr id="4" name="Text 2"/>
          <p:cNvSpPr/>
          <p:nvPr/>
        </p:nvSpPr>
        <p:spPr>
          <a:xfrm>
            <a:off x="9281160" y="237744"/>
            <a:ext cx="1234440" cy="310896"/>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Case Studies</a:t>
            </a:r>
            <a:endParaRPr lang="en-US" sz="1100" dirty="0"/>
          </a:p>
        </p:txBody>
      </p:sp>
      <p:sp>
        <p:nvSpPr>
          <p:cNvPr id="5" name="Shape 3"/>
          <p:cNvSpPr/>
          <p:nvPr/>
        </p:nvSpPr>
        <p:spPr>
          <a:xfrm>
            <a:off x="9281160" y="548640"/>
            <a:ext cx="1097280" cy="0"/>
          </a:xfrm>
          <a:prstGeom prst="line">
            <a:avLst/>
          </a:prstGeom>
          <a:noFill/>
          <a:ln w="19050">
            <a:solidFill>
              <a:srgbClr val="C9A84C"/>
            </a:solidFill>
            <a:prstDash val="solid"/>
          </a:ln>
        </p:spPr>
      </p:sp>
      <p:sp>
        <p:nvSpPr>
          <p:cNvPr id="6" name="Text 4"/>
          <p:cNvSpPr/>
          <p:nvPr/>
        </p:nvSpPr>
        <p:spPr>
          <a:xfrm>
            <a:off x="10652760" y="237744"/>
            <a:ext cx="1005840" cy="310896"/>
          </a:xfrm>
          <a:prstGeom prst="rect">
            <a:avLst/>
          </a:prstGeom>
          <a:noFill/>
          <a:ln/>
        </p:spPr>
        <p:txBody>
          <a:bodyPr wrap="square" lIns="0" tIns="0" rIns="0" bIns="0" rtlCol="0" anchor="ctr"/>
          <a:lstStyle/>
          <a:p>
            <a:pPr algn="l" indent="0" marL="0">
              <a:buNone/>
            </a:pPr>
            <a:r>
              <a:rPr lang="en-US" sz="1100" dirty="0">
                <a:solidFill>
                  <a:srgbClr val="9297A8"/>
                </a:solidFill>
                <a:latin typeface="Calibri" pitchFamily="34" charset="0"/>
                <a:ea typeface="Calibri" pitchFamily="34" charset="-122"/>
                <a:cs typeface="Calibri" pitchFamily="34" charset="-120"/>
              </a:rPr>
              <a:t>Outcomes</a:t>
            </a:r>
            <a:endParaRPr lang="en-US" sz="1100" dirty="0"/>
          </a:p>
        </p:txBody>
      </p:sp>
      <p:sp>
        <p:nvSpPr>
          <p:cNvPr id="7" name="Shape 5"/>
          <p:cNvSpPr/>
          <p:nvPr/>
        </p:nvSpPr>
        <p:spPr>
          <a:xfrm>
            <a:off x="548640" y="731520"/>
            <a:ext cx="11094415" cy="0"/>
          </a:xfrm>
          <a:prstGeom prst="line">
            <a:avLst/>
          </a:prstGeom>
          <a:noFill/>
          <a:ln w="9525">
            <a:solidFill>
              <a:srgbClr val="D8D2C2"/>
            </a:solidFill>
            <a:prstDash val="solid"/>
          </a:ln>
        </p:spPr>
      </p:sp>
      <p:sp>
        <p:nvSpPr>
          <p:cNvPr id="8" name="Text 6"/>
          <p:cNvSpPr/>
          <p:nvPr/>
        </p:nvSpPr>
        <p:spPr>
          <a:xfrm>
            <a:off x="548640" y="6473952"/>
            <a:ext cx="2926080" cy="274320"/>
          </a:xfrm>
          <a:prstGeom prst="rect">
            <a:avLst/>
          </a:prstGeom>
          <a:noFill/>
          <a:ln/>
        </p:spPr>
        <p:txBody>
          <a:bodyPr wrap="square" lIns="0" tIns="0" rIns="0" bIns="0" rtlCol="0" anchor="ctr"/>
          <a:lstStyle/>
          <a:p>
            <a:pPr indent="0" marL="0">
              <a:buNone/>
            </a:pPr>
            <a:r>
              <a:rPr lang="en-US" sz="900" dirty="0">
                <a:solidFill>
                  <a:srgbClr val="9297A8"/>
                </a:solidFill>
                <a:latin typeface="Calibri" pitchFamily="34" charset="0"/>
                <a:ea typeface="Calibri" pitchFamily="34" charset="-122"/>
                <a:cs typeface="Calibri" pitchFamily="34" charset="-120"/>
              </a:rPr>
              <a:t>www.jktellsstories.africa</a:t>
            </a:r>
            <a:endParaRPr lang="en-US" sz="900" dirty="0"/>
          </a:p>
        </p:txBody>
      </p:sp>
      <p:sp>
        <p:nvSpPr>
          <p:cNvPr id="9" name="Text 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297A8"/>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548640" y="914400"/>
            <a:ext cx="5486400" cy="594360"/>
          </a:xfrm>
          <a:prstGeom prst="rect">
            <a:avLst/>
          </a:prstGeom>
          <a:noFill/>
          <a:ln/>
        </p:spPr>
        <p:txBody>
          <a:bodyPr wrap="square" lIns="0" tIns="0" rIns="0" bIns="0" rtlCol="0" anchor="ctr"/>
          <a:lstStyle/>
          <a:p>
            <a:pPr indent="0" marL="0">
              <a:buNone/>
            </a:pPr>
            <a:r>
              <a:rPr lang="en-US" sz="3300" b="1" dirty="0">
                <a:solidFill>
                  <a:srgbClr val="0D1B3E"/>
                </a:solidFill>
                <a:latin typeface="Cambria" pitchFamily="34" charset="0"/>
                <a:ea typeface="Cambria" pitchFamily="34" charset="-122"/>
                <a:cs typeface="Cambria" pitchFamily="34" charset="-120"/>
              </a:rPr>
              <a:t>Intervention</a:t>
            </a:r>
            <a:endParaRPr lang="en-US" sz="3300" dirty="0"/>
          </a:p>
        </p:txBody>
      </p:sp>
      <p:sp>
        <p:nvSpPr>
          <p:cNvPr id="11" name="Text 9"/>
          <p:cNvSpPr/>
          <p:nvPr/>
        </p:nvSpPr>
        <p:spPr>
          <a:xfrm>
            <a:off x="548640" y="1481328"/>
            <a:ext cx="5486400" cy="274320"/>
          </a:xfrm>
          <a:prstGeom prst="rect">
            <a:avLst/>
          </a:prstGeom>
          <a:noFill/>
          <a:ln/>
        </p:spPr>
        <p:txBody>
          <a:bodyPr wrap="square" lIns="0" tIns="0" rIns="0" bIns="0" rtlCol="0" anchor="ctr"/>
          <a:lstStyle/>
          <a:p>
            <a:pPr indent="0" marL="0">
              <a:buNone/>
            </a:pPr>
            <a:r>
              <a:rPr lang="en-US" sz="1050" b="1" spc="120" kern="0" dirty="0">
                <a:solidFill>
                  <a:srgbClr val="C9A84C"/>
                </a:solidFill>
                <a:latin typeface="Calibri" pitchFamily="34" charset="0"/>
                <a:ea typeface="Calibri" pitchFamily="34" charset="-122"/>
                <a:cs typeface="Calibri" pitchFamily="34" charset="-120"/>
              </a:rPr>
              <a:t>PART ONE  —  POSITIONING &amp; OPERATIONS</a:t>
            </a:r>
            <a:endParaRPr lang="en-US" sz="1050" dirty="0"/>
          </a:p>
        </p:txBody>
      </p:sp>
      <p:sp>
        <p:nvSpPr>
          <p:cNvPr id="12" name="Shape 10"/>
          <p:cNvSpPr/>
          <p:nvPr/>
        </p:nvSpPr>
        <p:spPr>
          <a:xfrm>
            <a:off x="548640" y="1965960"/>
            <a:ext cx="5257800" cy="1828800"/>
          </a:xfrm>
          <a:prstGeom prst="rect">
            <a:avLst/>
          </a:prstGeom>
          <a:solidFill>
            <a:srgbClr val="FCFBF7"/>
          </a:solidFill>
          <a:ln w="12700">
            <a:solidFill>
              <a:srgbClr val="0D1B3E"/>
            </a:solidFill>
            <a:prstDash val="solid"/>
          </a:ln>
        </p:spPr>
      </p:sp>
      <p:sp>
        <p:nvSpPr>
          <p:cNvPr id="13" name="Text 11"/>
          <p:cNvSpPr/>
          <p:nvPr/>
        </p:nvSpPr>
        <p:spPr>
          <a:xfrm>
            <a:off x="777240" y="2130552"/>
            <a:ext cx="4800600" cy="292608"/>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Brand Positioning:</a:t>
            </a:r>
            <a:endParaRPr lang="en-US" sz="1300" dirty="0"/>
          </a:p>
        </p:txBody>
      </p:sp>
      <p:sp>
        <p:nvSpPr>
          <p:cNvPr id="14" name="Text 12"/>
          <p:cNvSpPr/>
          <p:nvPr/>
        </p:nvSpPr>
        <p:spPr>
          <a:xfrm>
            <a:off x="777240" y="2459736"/>
            <a:ext cx="4800600" cy="1152144"/>
          </a:xfrm>
          <a:prstGeom prst="rect">
            <a:avLst/>
          </a:prstGeom>
          <a:noFill/>
          <a:ln/>
        </p:spPr>
        <p:txBody>
          <a:bodyPr wrap="square" lIns="0" tIns="0" rIns="0" bIns="0" rtlCol="0" anchor="t"/>
          <a:lstStyle/>
          <a:p>
            <a:pPr indent="0" marL="0">
              <a:lnSpc>
                <a:spcPct val="122000"/>
              </a:lnSpc>
              <a:buNone/>
            </a:pPr>
            <a:r>
              <a:rPr lang="en-US" sz="1130" dirty="0">
                <a:solidFill>
                  <a:srgbClr val="1B2340"/>
                </a:solidFill>
                <a:latin typeface="Calibri" pitchFamily="34" charset="0"/>
                <a:ea typeface="Calibri" pitchFamily="34" charset="-122"/>
                <a:cs typeface="Calibri" pitchFamily="34" charset="-120"/>
              </a:rPr>
              <a:t>We moved the brand away from the transactional destination-list model. Polaris was positioned as a comprehensive guide offering full-journey support based on lived experience — present and honest about the realities of studying abroad, from the first application through the crucial first weeks in a new country.</a:t>
            </a:r>
            <a:endParaRPr lang="en-US" sz="1130" dirty="0"/>
          </a:p>
        </p:txBody>
      </p:sp>
      <p:sp>
        <p:nvSpPr>
          <p:cNvPr id="15" name="Shape 13"/>
          <p:cNvSpPr/>
          <p:nvPr/>
        </p:nvSpPr>
        <p:spPr>
          <a:xfrm>
            <a:off x="548640" y="3977640"/>
            <a:ext cx="5257800" cy="1965960"/>
          </a:xfrm>
          <a:prstGeom prst="rect">
            <a:avLst/>
          </a:prstGeom>
          <a:solidFill>
            <a:srgbClr val="FCFBF7"/>
          </a:solidFill>
          <a:ln w="12700">
            <a:solidFill>
              <a:srgbClr val="0D1B3E"/>
            </a:solidFill>
            <a:prstDash val="solid"/>
          </a:ln>
        </p:spPr>
      </p:sp>
      <p:sp>
        <p:nvSpPr>
          <p:cNvPr id="16" name="Text 14"/>
          <p:cNvSpPr/>
          <p:nvPr/>
        </p:nvSpPr>
        <p:spPr>
          <a:xfrm>
            <a:off x="777240" y="4142232"/>
            <a:ext cx="4800600" cy="292608"/>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Operational Architecture:</a:t>
            </a:r>
            <a:endParaRPr lang="en-US" sz="1300" dirty="0"/>
          </a:p>
        </p:txBody>
      </p:sp>
      <p:sp>
        <p:nvSpPr>
          <p:cNvPr id="17" name="Text 15"/>
          <p:cNvSpPr/>
          <p:nvPr/>
        </p:nvSpPr>
        <p:spPr>
          <a:xfrm>
            <a:off x="777240" y="4471416"/>
            <a:ext cx="4800600" cy="1289304"/>
          </a:xfrm>
          <a:prstGeom prst="rect">
            <a:avLst/>
          </a:prstGeom>
          <a:noFill/>
          <a:ln/>
        </p:spPr>
        <p:txBody>
          <a:bodyPr wrap="square" lIns="0" tIns="0" rIns="0" bIns="0" rtlCol="0" anchor="t"/>
          <a:lstStyle/>
          <a:p>
            <a:pPr indent="0" marL="0">
              <a:lnSpc>
                <a:spcPct val="122000"/>
              </a:lnSpc>
              <a:buNone/>
            </a:pPr>
            <a:r>
              <a:rPr lang="en-US" sz="1130" dirty="0">
                <a:solidFill>
                  <a:srgbClr val="1B2340"/>
                </a:solidFill>
                <a:latin typeface="Calibri" pitchFamily="34" charset="0"/>
                <a:ea typeface="Calibri" pitchFamily="34" charset="-122"/>
                <a:cs typeface="Calibri" pitchFamily="34" charset="-120"/>
              </a:rPr>
              <a:t>Designed a day-to-day operational model spanning first inquiry, admissions, visas, and post-arrival check-ins. This framework was built specifically to scale from Kisumu across Kenya and East Africa without requiring a rebuild at each growth stage.</a:t>
            </a:r>
            <a:endParaRPr lang="en-US" sz="1130" dirty="0"/>
          </a:p>
        </p:txBody>
      </p:sp>
      <p:sp>
        <p:nvSpPr>
          <p:cNvPr id="18" name="Shape 16"/>
          <p:cNvSpPr/>
          <p:nvPr/>
        </p:nvSpPr>
        <p:spPr>
          <a:xfrm>
            <a:off x="6400800" y="1600200"/>
            <a:ext cx="5257800" cy="4389120"/>
          </a:xfrm>
          <a:prstGeom prst="rect">
            <a:avLst/>
          </a:prstGeom>
          <a:solidFill>
            <a:srgbClr val="0D1B3E"/>
          </a:solidFill>
          <a:ln/>
        </p:spPr>
      </p:sp>
      <p:sp>
        <p:nvSpPr>
          <p:cNvPr id="19" name="Text 17"/>
          <p:cNvSpPr/>
          <p:nvPr/>
        </p:nvSpPr>
        <p:spPr>
          <a:xfrm>
            <a:off x="6766560" y="1856232"/>
            <a:ext cx="4572000" cy="274320"/>
          </a:xfrm>
          <a:prstGeom prst="rect">
            <a:avLst/>
          </a:prstGeom>
          <a:noFill/>
          <a:ln/>
        </p:spPr>
        <p:txBody>
          <a:bodyPr wrap="square" lIns="0" tIns="0" rIns="0" bIns="0" rtlCol="0" anchor="ctr"/>
          <a:lstStyle/>
          <a:p>
            <a:pPr indent="0" marL="0">
              <a:buNone/>
            </a:pPr>
            <a:r>
              <a:rPr lang="en-US" sz="1050" b="1" spc="120" kern="0" dirty="0">
                <a:solidFill>
                  <a:srgbClr val="C9A84C"/>
                </a:solidFill>
                <a:latin typeface="Calibri" pitchFamily="34" charset="0"/>
                <a:ea typeface="Calibri" pitchFamily="34" charset="-122"/>
                <a:cs typeface="Calibri" pitchFamily="34" charset="-120"/>
              </a:rPr>
              <a:t>THE JOURNEY WE BUILT</a:t>
            </a:r>
            <a:endParaRPr lang="en-US" sz="1050" dirty="0"/>
          </a:p>
        </p:txBody>
      </p:sp>
      <p:sp>
        <p:nvSpPr>
          <p:cNvPr id="20" name="Shape 18"/>
          <p:cNvSpPr/>
          <p:nvPr/>
        </p:nvSpPr>
        <p:spPr>
          <a:xfrm>
            <a:off x="7086600" y="2514600"/>
            <a:ext cx="0" cy="2249424"/>
          </a:xfrm>
          <a:prstGeom prst="line">
            <a:avLst/>
          </a:prstGeom>
          <a:noFill/>
          <a:ln w="12700">
            <a:solidFill>
              <a:srgbClr val="C9A84C"/>
            </a:solidFill>
            <a:prstDash val="dash"/>
          </a:ln>
        </p:spPr>
      </p:sp>
      <p:sp>
        <p:nvSpPr>
          <p:cNvPr id="21" name="Shape 19"/>
          <p:cNvSpPr/>
          <p:nvPr/>
        </p:nvSpPr>
        <p:spPr>
          <a:xfrm>
            <a:off x="6775704" y="2203704"/>
            <a:ext cx="621792" cy="621792"/>
          </a:xfrm>
          <a:prstGeom prst="ellipse">
            <a:avLst/>
          </a:prstGeom>
          <a:solidFill>
            <a:srgbClr val="0D1B3E"/>
          </a:solidFill>
          <a:ln w="19050">
            <a:solidFill>
              <a:srgbClr val="C9A84C"/>
            </a:solidFill>
            <a:prstDash val="solid"/>
          </a:ln>
        </p:spPr>
      </p:sp>
      <p:sp>
        <p:nvSpPr>
          <p:cNvPr id="22" name="Text 20"/>
          <p:cNvSpPr/>
          <p:nvPr/>
        </p:nvSpPr>
        <p:spPr>
          <a:xfrm>
            <a:off x="6775704" y="2203704"/>
            <a:ext cx="621792" cy="621792"/>
          </a:xfrm>
          <a:prstGeom prst="rect">
            <a:avLst/>
          </a:prstGeom>
          <a:noFill/>
          <a:ln/>
        </p:spPr>
        <p:txBody>
          <a:bodyPr wrap="square" lIns="0" tIns="0" rIns="0" bIns="0" rtlCol="0" anchor="ctr"/>
          <a:lstStyle/>
          <a:p>
            <a:pPr algn="ctr" indent="0" marL="0">
              <a:buNone/>
            </a:pPr>
            <a:r>
              <a:rPr lang="en-US" sz="1400" b="1" dirty="0">
                <a:solidFill>
                  <a:srgbClr val="C9A84C"/>
                </a:solidFill>
                <a:latin typeface="Calibri" pitchFamily="34" charset="0"/>
                <a:ea typeface="Calibri" pitchFamily="34" charset="-122"/>
                <a:cs typeface="Calibri" pitchFamily="34" charset="-120"/>
              </a:rPr>
              <a:t>1</a:t>
            </a:r>
            <a:endParaRPr lang="en-US" sz="1400" dirty="0"/>
          </a:p>
        </p:txBody>
      </p:sp>
      <p:sp>
        <p:nvSpPr>
          <p:cNvPr id="23" name="Text 21"/>
          <p:cNvSpPr/>
          <p:nvPr/>
        </p:nvSpPr>
        <p:spPr>
          <a:xfrm>
            <a:off x="7626096" y="2221992"/>
            <a:ext cx="3566160" cy="310896"/>
          </a:xfrm>
          <a:prstGeom prst="rect">
            <a:avLst/>
          </a:prstGeom>
          <a:noFill/>
          <a:ln/>
        </p:spPr>
        <p:txBody>
          <a:bodyPr wrap="square" lIns="0" tIns="0" rIns="0" bIns="0" rtlCol="0" anchor="ctr"/>
          <a:lstStyle/>
          <a:p>
            <a:pPr indent="0" marL="0">
              <a:buNone/>
            </a:pPr>
            <a:r>
              <a:rPr lang="en-US" sz="1400" b="1" dirty="0">
                <a:solidFill>
                  <a:srgbClr val="F8F5EE"/>
                </a:solidFill>
                <a:latin typeface="Calibri" pitchFamily="34" charset="0"/>
                <a:ea typeface="Calibri" pitchFamily="34" charset="-122"/>
                <a:cs typeface="Calibri" pitchFamily="34" charset="-120"/>
              </a:rPr>
              <a:t>First Inquiry</a:t>
            </a:r>
            <a:endParaRPr lang="en-US" sz="1400" dirty="0"/>
          </a:p>
        </p:txBody>
      </p:sp>
      <p:sp>
        <p:nvSpPr>
          <p:cNvPr id="24" name="Text 22"/>
          <p:cNvSpPr/>
          <p:nvPr/>
        </p:nvSpPr>
        <p:spPr>
          <a:xfrm>
            <a:off x="7626096" y="2532888"/>
            <a:ext cx="3566160" cy="292608"/>
          </a:xfrm>
          <a:prstGeom prst="rect">
            <a:avLst/>
          </a:prstGeom>
          <a:noFill/>
          <a:ln/>
        </p:spPr>
        <p:txBody>
          <a:bodyPr wrap="square" lIns="0" tIns="0" rIns="0" bIns="0" rtlCol="0" anchor="t"/>
          <a:lstStyle/>
          <a:p>
            <a:pPr indent="0" marL="0">
              <a:buNone/>
            </a:pPr>
            <a:r>
              <a:rPr lang="en-US" sz="1000" dirty="0">
                <a:solidFill>
                  <a:srgbClr val="AEB6D4"/>
                </a:solidFill>
                <a:latin typeface="Calibri" pitchFamily="34" charset="0"/>
                <a:ea typeface="Calibri" pitchFamily="34" charset="-122"/>
                <a:cs typeface="Calibri" pitchFamily="34" charset="-120"/>
              </a:rPr>
              <a:t>Initial contact &amp; discovery</a:t>
            </a:r>
            <a:endParaRPr lang="en-US" sz="1000" dirty="0"/>
          </a:p>
        </p:txBody>
      </p:sp>
      <p:sp>
        <p:nvSpPr>
          <p:cNvPr id="25" name="Shape 23"/>
          <p:cNvSpPr/>
          <p:nvPr/>
        </p:nvSpPr>
        <p:spPr>
          <a:xfrm>
            <a:off x="6775704" y="2953512"/>
            <a:ext cx="621792" cy="621792"/>
          </a:xfrm>
          <a:prstGeom prst="ellipse">
            <a:avLst/>
          </a:prstGeom>
          <a:solidFill>
            <a:srgbClr val="0D1B3E"/>
          </a:solidFill>
          <a:ln w="19050">
            <a:solidFill>
              <a:srgbClr val="C9A84C"/>
            </a:solidFill>
            <a:prstDash val="solid"/>
          </a:ln>
        </p:spPr>
      </p:sp>
      <p:sp>
        <p:nvSpPr>
          <p:cNvPr id="26" name="Text 24"/>
          <p:cNvSpPr/>
          <p:nvPr/>
        </p:nvSpPr>
        <p:spPr>
          <a:xfrm>
            <a:off x="6775704" y="2953512"/>
            <a:ext cx="621792" cy="621792"/>
          </a:xfrm>
          <a:prstGeom prst="rect">
            <a:avLst/>
          </a:prstGeom>
          <a:noFill/>
          <a:ln/>
        </p:spPr>
        <p:txBody>
          <a:bodyPr wrap="square" lIns="0" tIns="0" rIns="0" bIns="0" rtlCol="0" anchor="ctr"/>
          <a:lstStyle/>
          <a:p>
            <a:pPr algn="ctr" indent="0" marL="0">
              <a:buNone/>
            </a:pPr>
            <a:r>
              <a:rPr lang="en-US" sz="1400" b="1" dirty="0">
                <a:solidFill>
                  <a:srgbClr val="C9A84C"/>
                </a:solidFill>
                <a:latin typeface="Calibri" pitchFamily="34" charset="0"/>
                <a:ea typeface="Calibri" pitchFamily="34" charset="-122"/>
                <a:cs typeface="Calibri" pitchFamily="34" charset="-120"/>
              </a:rPr>
              <a:t>2</a:t>
            </a:r>
            <a:endParaRPr lang="en-US" sz="1400" dirty="0"/>
          </a:p>
        </p:txBody>
      </p:sp>
      <p:sp>
        <p:nvSpPr>
          <p:cNvPr id="27" name="Text 25"/>
          <p:cNvSpPr/>
          <p:nvPr/>
        </p:nvSpPr>
        <p:spPr>
          <a:xfrm>
            <a:off x="7626096" y="2971800"/>
            <a:ext cx="3566160" cy="310896"/>
          </a:xfrm>
          <a:prstGeom prst="rect">
            <a:avLst/>
          </a:prstGeom>
          <a:noFill/>
          <a:ln/>
        </p:spPr>
        <p:txBody>
          <a:bodyPr wrap="square" lIns="0" tIns="0" rIns="0" bIns="0" rtlCol="0" anchor="ctr"/>
          <a:lstStyle/>
          <a:p>
            <a:pPr indent="0" marL="0">
              <a:buNone/>
            </a:pPr>
            <a:r>
              <a:rPr lang="en-US" sz="1400" b="1" dirty="0">
                <a:solidFill>
                  <a:srgbClr val="F8F5EE"/>
                </a:solidFill>
                <a:latin typeface="Calibri" pitchFamily="34" charset="0"/>
                <a:ea typeface="Calibri" pitchFamily="34" charset="-122"/>
                <a:cs typeface="Calibri" pitchFamily="34" charset="-120"/>
              </a:rPr>
              <a:t>Admissions</a:t>
            </a:r>
            <a:endParaRPr lang="en-US" sz="1400" dirty="0"/>
          </a:p>
        </p:txBody>
      </p:sp>
      <p:sp>
        <p:nvSpPr>
          <p:cNvPr id="28" name="Text 26"/>
          <p:cNvSpPr/>
          <p:nvPr/>
        </p:nvSpPr>
        <p:spPr>
          <a:xfrm>
            <a:off x="7626096" y="3282696"/>
            <a:ext cx="3566160" cy="292608"/>
          </a:xfrm>
          <a:prstGeom prst="rect">
            <a:avLst/>
          </a:prstGeom>
          <a:noFill/>
          <a:ln/>
        </p:spPr>
        <p:txBody>
          <a:bodyPr wrap="square" lIns="0" tIns="0" rIns="0" bIns="0" rtlCol="0" anchor="t"/>
          <a:lstStyle/>
          <a:p>
            <a:pPr indent="0" marL="0">
              <a:buNone/>
            </a:pPr>
            <a:r>
              <a:rPr lang="en-US" sz="1000" dirty="0">
                <a:solidFill>
                  <a:srgbClr val="AEB6D4"/>
                </a:solidFill>
                <a:latin typeface="Calibri" pitchFamily="34" charset="0"/>
                <a:ea typeface="Calibri" pitchFamily="34" charset="-122"/>
                <a:cs typeface="Calibri" pitchFamily="34" charset="-120"/>
              </a:rPr>
              <a:t>Application &amp; institution match</a:t>
            </a:r>
            <a:endParaRPr lang="en-US" sz="1000" dirty="0"/>
          </a:p>
        </p:txBody>
      </p:sp>
      <p:sp>
        <p:nvSpPr>
          <p:cNvPr id="29" name="Shape 27"/>
          <p:cNvSpPr/>
          <p:nvPr/>
        </p:nvSpPr>
        <p:spPr>
          <a:xfrm>
            <a:off x="6775704" y="3703320"/>
            <a:ext cx="621792" cy="621792"/>
          </a:xfrm>
          <a:prstGeom prst="ellipse">
            <a:avLst/>
          </a:prstGeom>
          <a:solidFill>
            <a:srgbClr val="0D1B3E"/>
          </a:solidFill>
          <a:ln w="19050">
            <a:solidFill>
              <a:srgbClr val="C9A84C"/>
            </a:solidFill>
            <a:prstDash val="solid"/>
          </a:ln>
        </p:spPr>
      </p:sp>
      <p:sp>
        <p:nvSpPr>
          <p:cNvPr id="30" name="Text 28"/>
          <p:cNvSpPr/>
          <p:nvPr/>
        </p:nvSpPr>
        <p:spPr>
          <a:xfrm>
            <a:off x="6775704" y="3703320"/>
            <a:ext cx="621792" cy="621792"/>
          </a:xfrm>
          <a:prstGeom prst="rect">
            <a:avLst/>
          </a:prstGeom>
          <a:noFill/>
          <a:ln/>
        </p:spPr>
        <p:txBody>
          <a:bodyPr wrap="square" lIns="0" tIns="0" rIns="0" bIns="0" rtlCol="0" anchor="ctr"/>
          <a:lstStyle/>
          <a:p>
            <a:pPr algn="ctr" indent="0" marL="0">
              <a:buNone/>
            </a:pPr>
            <a:r>
              <a:rPr lang="en-US" sz="1400" b="1" dirty="0">
                <a:solidFill>
                  <a:srgbClr val="C9A84C"/>
                </a:solidFill>
                <a:latin typeface="Calibri" pitchFamily="34" charset="0"/>
                <a:ea typeface="Calibri" pitchFamily="34" charset="-122"/>
                <a:cs typeface="Calibri" pitchFamily="34" charset="-120"/>
              </a:rPr>
              <a:t>3</a:t>
            </a:r>
            <a:endParaRPr lang="en-US" sz="1400" dirty="0"/>
          </a:p>
        </p:txBody>
      </p:sp>
      <p:sp>
        <p:nvSpPr>
          <p:cNvPr id="31" name="Text 29"/>
          <p:cNvSpPr/>
          <p:nvPr/>
        </p:nvSpPr>
        <p:spPr>
          <a:xfrm>
            <a:off x="7626096" y="3721608"/>
            <a:ext cx="3566160" cy="310896"/>
          </a:xfrm>
          <a:prstGeom prst="rect">
            <a:avLst/>
          </a:prstGeom>
          <a:noFill/>
          <a:ln/>
        </p:spPr>
        <p:txBody>
          <a:bodyPr wrap="square" lIns="0" tIns="0" rIns="0" bIns="0" rtlCol="0" anchor="ctr"/>
          <a:lstStyle/>
          <a:p>
            <a:pPr indent="0" marL="0">
              <a:buNone/>
            </a:pPr>
            <a:r>
              <a:rPr lang="en-US" sz="1400" b="1" dirty="0">
                <a:solidFill>
                  <a:srgbClr val="F8F5EE"/>
                </a:solidFill>
                <a:latin typeface="Calibri" pitchFamily="34" charset="0"/>
                <a:ea typeface="Calibri" pitchFamily="34" charset="-122"/>
                <a:cs typeface="Calibri" pitchFamily="34" charset="-120"/>
              </a:rPr>
              <a:t>Visas</a:t>
            </a:r>
            <a:endParaRPr lang="en-US" sz="1400" dirty="0"/>
          </a:p>
        </p:txBody>
      </p:sp>
      <p:sp>
        <p:nvSpPr>
          <p:cNvPr id="32" name="Text 30"/>
          <p:cNvSpPr/>
          <p:nvPr/>
        </p:nvSpPr>
        <p:spPr>
          <a:xfrm>
            <a:off x="7626096" y="4032504"/>
            <a:ext cx="3566160" cy="292608"/>
          </a:xfrm>
          <a:prstGeom prst="rect">
            <a:avLst/>
          </a:prstGeom>
          <a:noFill/>
          <a:ln/>
        </p:spPr>
        <p:txBody>
          <a:bodyPr wrap="square" lIns="0" tIns="0" rIns="0" bIns="0" rtlCol="0" anchor="t"/>
          <a:lstStyle/>
          <a:p>
            <a:pPr indent="0" marL="0">
              <a:buNone/>
            </a:pPr>
            <a:r>
              <a:rPr lang="en-US" sz="1000" dirty="0">
                <a:solidFill>
                  <a:srgbClr val="AEB6D4"/>
                </a:solidFill>
                <a:latin typeface="Calibri" pitchFamily="34" charset="0"/>
                <a:ea typeface="Calibri" pitchFamily="34" charset="-122"/>
                <a:cs typeface="Calibri" pitchFamily="34" charset="-120"/>
              </a:rPr>
              <a:t>Documentation &amp; approvals</a:t>
            </a:r>
            <a:endParaRPr lang="en-US" sz="1000" dirty="0"/>
          </a:p>
        </p:txBody>
      </p:sp>
      <p:sp>
        <p:nvSpPr>
          <p:cNvPr id="33" name="Shape 31"/>
          <p:cNvSpPr/>
          <p:nvPr/>
        </p:nvSpPr>
        <p:spPr>
          <a:xfrm>
            <a:off x="6775704" y="4453128"/>
            <a:ext cx="621792" cy="621792"/>
          </a:xfrm>
          <a:prstGeom prst="ellipse">
            <a:avLst/>
          </a:prstGeom>
          <a:solidFill>
            <a:srgbClr val="0D1B3E"/>
          </a:solidFill>
          <a:ln w="19050">
            <a:solidFill>
              <a:srgbClr val="C9A84C"/>
            </a:solidFill>
            <a:prstDash val="solid"/>
          </a:ln>
        </p:spPr>
      </p:sp>
      <p:sp>
        <p:nvSpPr>
          <p:cNvPr id="34" name="Text 32"/>
          <p:cNvSpPr/>
          <p:nvPr/>
        </p:nvSpPr>
        <p:spPr>
          <a:xfrm>
            <a:off x="6775704" y="4453128"/>
            <a:ext cx="621792" cy="621792"/>
          </a:xfrm>
          <a:prstGeom prst="rect">
            <a:avLst/>
          </a:prstGeom>
          <a:noFill/>
          <a:ln/>
        </p:spPr>
        <p:txBody>
          <a:bodyPr wrap="square" lIns="0" tIns="0" rIns="0" bIns="0" rtlCol="0" anchor="ctr"/>
          <a:lstStyle/>
          <a:p>
            <a:pPr algn="ctr" indent="0" marL="0">
              <a:buNone/>
            </a:pPr>
            <a:r>
              <a:rPr lang="en-US" sz="1400" b="1" dirty="0">
                <a:solidFill>
                  <a:srgbClr val="C9A84C"/>
                </a:solidFill>
                <a:latin typeface="Calibri" pitchFamily="34" charset="0"/>
                <a:ea typeface="Calibri" pitchFamily="34" charset="-122"/>
                <a:cs typeface="Calibri" pitchFamily="34" charset="-120"/>
              </a:rPr>
              <a:t>4</a:t>
            </a:r>
            <a:endParaRPr lang="en-US" sz="1400" dirty="0"/>
          </a:p>
        </p:txBody>
      </p:sp>
      <p:sp>
        <p:nvSpPr>
          <p:cNvPr id="35" name="Text 33"/>
          <p:cNvSpPr/>
          <p:nvPr/>
        </p:nvSpPr>
        <p:spPr>
          <a:xfrm>
            <a:off x="7626096" y="4471416"/>
            <a:ext cx="3566160" cy="310896"/>
          </a:xfrm>
          <a:prstGeom prst="rect">
            <a:avLst/>
          </a:prstGeom>
          <a:noFill/>
          <a:ln/>
        </p:spPr>
        <p:txBody>
          <a:bodyPr wrap="square" lIns="0" tIns="0" rIns="0" bIns="0" rtlCol="0" anchor="ctr"/>
          <a:lstStyle/>
          <a:p>
            <a:pPr indent="0" marL="0">
              <a:buNone/>
            </a:pPr>
            <a:r>
              <a:rPr lang="en-US" sz="1400" b="1" dirty="0">
                <a:solidFill>
                  <a:srgbClr val="F8F5EE"/>
                </a:solidFill>
                <a:latin typeface="Calibri" pitchFamily="34" charset="0"/>
                <a:ea typeface="Calibri" pitchFamily="34" charset="-122"/>
                <a:cs typeface="Calibri" pitchFamily="34" charset="-120"/>
              </a:rPr>
              <a:t>Post-Arrival</a:t>
            </a:r>
            <a:endParaRPr lang="en-US" sz="1400" dirty="0"/>
          </a:p>
        </p:txBody>
      </p:sp>
      <p:sp>
        <p:nvSpPr>
          <p:cNvPr id="36" name="Text 34"/>
          <p:cNvSpPr/>
          <p:nvPr/>
        </p:nvSpPr>
        <p:spPr>
          <a:xfrm>
            <a:off x="7626096" y="4782312"/>
            <a:ext cx="3566160" cy="292608"/>
          </a:xfrm>
          <a:prstGeom prst="rect">
            <a:avLst/>
          </a:prstGeom>
          <a:noFill/>
          <a:ln/>
        </p:spPr>
        <p:txBody>
          <a:bodyPr wrap="square" lIns="0" tIns="0" rIns="0" bIns="0" rtlCol="0" anchor="t"/>
          <a:lstStyle/>
          <a:p>
            <a:pPr indent="0" marL="0">
              <a:buNone/>
            </a:pPr>
            <a:r>
              <a:rPr lang="en-US" sz="1000" dirty="0">
                <a:solidFill>
                  <a:srgbClr val="AEB6D4"/>
                </a:solidFill>
                <a:latin typeface="Calibri" pitchFamily="34" charset="0"/>
                <a:ea typeface="Calibri" pitchFamily="34" charset="-122"/>
                <a:cs typeface="Calibri" pitchFamily="34" charset="-120"/>
              </a:rPr>
              <a:t>Check-ins after landing</a:t>
            </a:r>
            <a:endParaRPr lang="en-US" sz="1000" dirty="0"/>
          </a:p>
        </p:txBody>
      </p:sp>
      <p:sp>
        <p:nvSpPr>
          <p:cNvPr id="37" name="Text 35"/>
          <p:cNvSpPr/>
          <p:nvPr/>
        </p:nvSpPr>
        <p:spPr>
          <a:xfrm>
            <a:off x="6766560" y="5367528"/>
            <a:ext cx="4572000" cy="475488"/>
          </a:xfrm>
          <a:prstGeom prst="rect">
            <a:avLst/>
          </a:prstGeom>
          <a:noFill/>
          <a:ln/>
        </p:spPr>
        <p:txBody>
          <a:bodyPr wrap="square" lIns="0" tIns="0" rIns="0" bIns="0" rtlCol="0" anchor="t"/>
          <a:lstStyle/>
          <a:p>
            <a:pPr indent="0" marL="0">
              <a:lnSpc>
                <a:spcPct val="115000"/>
              </a:lnSpc>
              <a:buNone/>
            </a:pPr>
            <a:r>
              <a:rPr lang="en-US" sz="1100" i="1" dirty="0">
                <a:solidFill>
                  <a:srgbClr val="F8F5EE"/>
                </a:solidFill>
                <a:latin typeface="Cambria" pitchFamily="34" charset="0"/>
                <a:ea typeface="Cambria" pitchFamily="34" charset="-122"/>
                <a:cs typeface="Cambria" pitchFamily="34" charset="-120"/>
              </a:rPr>
              <a:t>Built to scale from Kisumu across Kenya and East Africa — without a rebuild at each growth stage.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548640" y="237744"/>
            <a:ext cx="2011680" cy="310896"/>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Portfolio</a:t>
            </a:r>
            <a:endParaRPr lang="en-US" sz="1300" dirty="0"/>
          </a:p>
        </p:txBody>
      </p:sp>
      <p:sp>
        <p:nvSpPr>
          <p:cNvPr id="3" name="Text 1"/>
          <p:cNvSpPr/>
          <p:nvPr/>
        </p:nvSpPr>
        <p:spPr>
          <a:xfrm>
            <a:off x="8366760" y="237744"/>
            <a:ext cx="777240" cy="310896"/>
          </a:xfrm>
          <a:prstGeom prst="rect">
            <a:avLst/>
          </a:prstGeom>
          <a:noFill/>
          <a:ln/>
        </p:spPr>
        <p:txBody>
          <a:bodyPr wrap="square" lIns="0" tIns="0" rIns="0" bIns="0" rtlCol="0" anchor="ctr"/>
          <a:lstStyle/>
          <a:p>
            <a:pPr algn="l" indent="0" marL="0">
              <a:buNone/>
            </a:pPr>
            <a:r>
              <a:rPr lang="en-US" sz="1100" dirty="0">
                <a:solidFill>
                  <a:srgbClr val="9297A8"/>
                </a:solidFill>
                <a:latin typeface="Calibri" pitchFamily="34" charset="0"/>
                <a:ea typeface="Calibri" pitchFamily="34" charset="-122"/>
                <a:cs typeface="Calibri" pitchFamily="34" charset="-120"/>
              </a:rPr>
              <a:t>Home</a:t>
            </a:r>
            <a:endParaRPr lang="en-US" sz="1100" dirty="0"/>
          </a:p>
        </p:txBody>
      </p:sp>
      <p:sp>
        <p:nvSpPr>
          <p:cNvPr id="4" name="Text 2"/>
          <p:cNvSpPr/>
          <p:nvPr/>
        </p:nvSpPr>
        <p:spPr>
          <a:xfrm>
            <a:off x="9281160" y="237744"/>
            <a:ext cx="1234440" cy="310896"/>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Case Studies</a:t>
            </a:r>
            <a:endParaRPr lang="en-US" sz="1100" dirty="0"/>
          </a:p>
        </p:txBody>
      </p:sp>
      <p:sp>
        <p:nvSpPr>
          <p:cNvPr id="5" name="Shape 3"/>
          <p:cNvSpPr/>
          <p:nvPr/>
        </p:nvSpPr>
        <p:spPr>
          <a:xfrm>
            <a:off x="9281160" y="548640"/>
            <a:ext cx="1097280" cy="0"/>
          </a:xfrm>
          <a:prstGeom prst="line">
            <a:avLst/>
          </a:prstGeom>
          <a:noFill/>
          <a:ln w="19050">
            <a:solidFill>
              <a:srgbClr val="C9A84C"/>
            </a:solidFill>
            <a:prstDash val="solid"/>
          </a:ln>
        </p:spPr>
      </p:sp>
      <p:sp>
        <p:nvSpPr>
          <p:cNvPr id="6" name="Text 4"/>
          <p:cNvSpPr/>
          <p:nvPr/>
        </p:nvSpPr>
        <p:spPr>
          <a:xfrm>
            <a:off x="10652760" y="237744"/>
            <a:ext cx="1005840" cy="310896"/>
          </a:xfrm>
          <a:prstGeom prst="rect">
            <a:avLst/>
          </a:prstGeom>
          <a:noFill/>
          <a:ln/>
        </p:spPr>
        <p:txBody>
          <a:bodyPr wrap="square" lIns="0" tIns="0" rIns="0" bIns="0" rtlCol="0" anchor="ctr"/>
          <a:lstStyle/>
          <a:p>
            <a:pPr algn="l" indent="0" marL="0">
              <a:buNone/>
            </a:pPr>
            <a:r>
              <a:rPr lang="en-US" sz="1100" dirty="0">
                <a:solidFill>
                  <a:srgbClr val="9297A8"/>
                </a:solidFill>
                <a:latin typeface="Calibri" pitchFamily="34" charset="0"/>
                <a:ea typeface="Calibri" pitchFamily="34" charset="-122"/>
                <a:cs typeface="Calibri" pitchFamily="34" charset="-120"/>
              </a:rPr>
              <a:t>Outcomes</a:t>
            </a:r>
            <a:endParaRPr lang="en-US" sz="1100" dirty="0"/>
          </a:p>
        </p:txBody>
      </p:sp>
      <p:sp>
        <p:nvSpPr>
          <p:cNvPr id="7" name="Shape 5"/>
          <p:cNvSpPr/>
          <p:nvPr/>
        </p:nvSpPr>
        <p:spPr>
          <a:xfrm>
            <a:off x="548640" y="731520"/>
            <a:ext cx="11094415" cy="0"/>
          </a:xfrm>
          <a:prstGeom prst="line">
            <a:avLst/>
          </a:prstGeom>
          <a:noFill/>
          <a:ln w="9525">
            <a:solidFill>
              <a:srgbClr val="D8D2C2"/>
            </a:solidFill>
            <a:prstDash val="solid"/>
          </a:ln>
        </p:spPr>
      </p:sp>
      <p:sp>
        <p:nvSpPr>
          <p:cNvPr id="8" name="Text 6"/>
          <p:cNvSpPr/>
          <p:nvPr/>
        </p:nvSpPr>
        <p:spPr>
          <a:xfrm>
            <a:off x="548640" y="6473952"/>
            <a:ext cx="2926080" cy="274320"/>
          </a:xfrm>
          <a:prstGeom prst="rect">
            <a:avLst/>
          </a:prstGeom>
          <a:noFill/>
          <a:ln/>
        </p:spPr>
        <p:txBody>
          <a:bodyPr wrap="square" lIns="0" tIns="0" rIns="0" bIns="0" rtlCol="0" anchor="ctr"/>
          <a:lstStyle/>
          <a:p>
            <a:pPr indent="0" marL="0">
              <a:buNone/>
            </a:pPr>
            <a:r>
              <a:rPr lang="en-US" sz="900" dirty="0">
                <a:solidFill>
                  <a:srgbClr val="9297A8"/>
                </a:solidFill>
                <a:latin typeface="Calibri" pitchFamily="34" charset="0"/>
                <a:ea typeface="Calibri" pitchFamily="34" charset="-122"/>
                <a:cs typeface="Calibri" pitchFamily="34" charset="-120"/>
              </a:rPr>
              <a:t>www.jktellsstories.africa</a:t>
            </a:r>
            <a:endParaRPr lang="en-US" sz="900" dirty="0"/>
          </a:p>
        </p:txBody>
      </p:sp>
      <p:sp>
        <p:nvSpPr>
          <p:cNvPr id="9" name="Text 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297A8"/>
                </a:solidFill>
                <a:latin typeface="Calibri" pitchFamily="34" charset="0"/>
                <a:ea typeface="Calibri" pitchFamily="34" charset="-122"/>
                <a:cs typeface="Calibri" pitchFamily="34" charset="-120"/>
              </a:rPr>
              <a:t>4</a:t>
            </a:r>
            <a:endParaRPr lang="en-US" sz="900" dirty="0"/>
          </a:p>
        </p:txBody>
      </p:sp>
      <p:sp>
        <p:nvSpPr>
          <p:cNvPr id="10" name="Text 8"/>
          <p:cNvSpPr/>
          <p:nvPr/>
        </p:nvSpPr>
        <p:spPr>
          <a:xfrm>
            <a:off x="548640" y="914400"/>
            <a:ext cx="5486400" cy="594360"/>
          </a:xfrm>
          <a:prstGeom prst="rect">
            <a:avLst/>
          </a:prstGeom>
          <a:noFill/>
          <a:ln/>
        </p:spPr>
        <p:txBody>
          <a:bodyPr wrap="square" lIns="0" tIns="0" rIns="0" bIns="0" rtlCol="0" anchor="ctr"/>
          <a:lstStyle/>
          <a:p>
            <a:pPr indent="0" marL="0">
              <a:buNone/>
            </a:pPr>
            <a:r>
              <a:rPr lang="en-US" sz="3300" b="1" dirty="0">
                <a:solidFill>
                  <a:srgbClr val="0D1B3E"/>
                </a:solidFill>
                <a:latin typeface="Cambria" pitchFamily="34" charset="0"/>
                <a:ea typeface="Cambria" pitchFamily="34" charset="-122"/>
                <a:cs typeface="Cambria" pitchFamily="34" charset="-120"/>
              </a:rPr>
              <a:t>Intervention</a:t>
            </a:r>
            <a:endParaRPr lang="en-US" sz="3300" dirty="0"/>
          </a:p>
        </p:txBody>
      </p:sp>
      <p:sp>
        <p:nvSpPr>
          <p:cNvPr id="11" name="Text 9"/>
          <p:cNvSpPr/>
          <p:nvPr/>
        </p:nvSpPr>
        <p:spPr>
          <a:xfrm>
            <a:off x="548640" y="1481328"/>
            <a:ext cx="5486400" cy="274320"/>
          </a:xfrm>
          <a:prstGeom prst="rect">
            <a:avLst/>
          </a:prstGeom>
          <a:noFill/>
          <a:ln/>
        </p:spPr>
        <p:txBody>
          <a:bodyPr wrap="square" lIns="0" tIns="0" rIns="0" bIns="0" rtlCol="0" anchor="ctr"/>
          <a:lstStyle/>
          <a:p>
            <a:pPr indent="0" marL="0">
              <a:buNone/>
            </a:pPr>
            <a:r>
              <a:rPr lang="en-US" sz="1050" b="1" spc="120" kern="0" dirty="0">
                <a:solidFill>
                  <a:srgbClr val="C9A84C"/>
                </a:solidFill>
                <a:latin typeface="Calibri" pitchFamily="34" charset="0"/>
                <a:ea typeface="Calibri" pitchFamily="34" charset="-122"/>
                <a:cs typeface="Calibri" pitchFamily="34" charset="-120"/>
              </a:rPr>
              <a:t>PART TWO  —  GO-TO-MARKET &amp; IDENTITY</a:t>
            </a:r>
            <a:endParaRPr lang="en-US" sz="1050" dirty="0"/>
          </a:p>
        </p:txBody>
      </p:sp>
      <p:sp>
        <p:nvSpPr>
          <p:cNvPr id="12" name="Shape 10"/>
          <p:cNvSpPr/>
          <p:nvPr/>
        </p:nvSpPr>
        <p:spPr>
          <a:xfrm>
            <a:off x="548640" y="1965960"/>
            <a:ext cx="5257800" cy="1554480"/>
          </a:xfrm>
          <a:prstGeom prst="rect">
            <a:avLst/>
          </a:prstGeom>
          <a:solidFill>
            <a:srgbClr val="FCFBF7"/>
          </a:solidFill>
          <a:ln w="12700">
            <a:solidFill>
              <a:srgbClr val="0D1B3E"/>
            </a:solidFill>
            <a:prstDash val="solid"/>
          </a:ln>
        </p:spPr>
      </p:sp>
      <p:sp>
        <p:nvSpPr>
          <p:cNvPr id="13" name="Text 11"/>
          <p:cNvSpPr/>
          <p:nvPr/>
        </p:nvSpPr>
        <p:spPr>
          <a:xfrm>
            <a:off x="777240" y="2130552"/>
            <a:ext cx="4800600" cy="292608"/>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Go-to-Market Strategy:</a:t>
            </a:r>
            <a:endParaRPr lang="en-US" sz="1300" dirty="0"/>
          </a:p>
        </p:txBody>
      </p:sp>
      <p:sp>
        <p:nvSpPr>
          <p:cNvPr id="14" name="Text 12"/>
          <p:cNvSpPr/>
          <p:nvPr/>
        </p:nvSpPr>
        <p:spPr>
          <a:xfrm>
            <a:off x="777240" y="2459736"/>
            <a:ext cx="4800600" cy="877824"/>
          </a:xfrm>
          <a:prstGeom prst="rect">
            <a:avLst/>
          </a:prstGeom>
          <a:noFill/>
          <a:ln/>
        </p:spPr>
        <p:txBody>
          <a:bodyPr wrap="square" lIns="0" tIns="0" rIns="0" bIns="0" rtlCol="0" anchor="t"/>
          <a:lstStyle/>
          <a:p>
            <a:pPr indent="0" marL="0">
              <a:lnSpc>
                <a:spcPct val="122000"/>
              </a:lnSpc>
              <a:buNone/>
            </a:pPr>
            <a:r>
              <a:rPr lang="en-US" sz="1130" dirty="0">
                <a:solidFill>
                  <a:srgbClr val="1B2340"/>
                </a:solidFill>
                <a:latin typeface="Calibri" pitchFamily="34" charset="0"/>
                <a:ea typeface="Calibri" pitchFamily="34" charset="-122"/>
                <a:cs typeface="Calibri" pitchFamily="34" charset="-120"/>
              </a:rPr>
              <a:t>Segmented the messaging to address the dual-audience dynamic. We developed story-led, aspirational content for students on Instagram and TikTok, paired with cost- and safety-focused communications for parents and financial sponsors on Facebook and WhatsApp.</a:t>
            </a:r>
            <a:endParaRPr lang="en-US" sz="1130" dirty="0"/>
          </a:p>
        </p:txBody>
      </p:sp>
      <p:sp>
        <p:nvSpPr>
          <p:cNvPr id="15" name="Shape 13"/>
          <p:cNvSpPr/>
          <p:nvPr/>
        </p:nvSpPr>
        <p:spPr>
          <a:xfrm>
            <a:off x="548640" y="3703320"/>
            <a:ext cx="5257800" cy="2240280"/>
          </a:xfrm>
          <a:prstGeom prst="rect">
            <a:avLst/>
          </a:prstGeom>
          <a:solidFill>
            <a:srgbClr val="FCFBF7"/>
          </a:solidFill>
          <a:ln w="12700">
            <a:solidFill>
              <a:srgbClr val="0D1B3E"/>
            </a:solidFill>
            <a:prstDash val="solid"/>
          </a:ln>
        </p:spPr>
      </p:sp>
      <p:sp>
        <p:nvSpPr>
          <p:cNvPr id="16" name="Text 14"/>
          <p:cNvSpPr/>
          <p:nvPr/>
        </p:nvSpPr>
        <p:spPr>
          <a:xfrm>
            <a:off x="777240" y="3867912"/>
            <a:ext cx="4800600" cy="292608"/>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Identity &amp; Corporate Infrastructure:</a:t>
            </a:r>
            <a:endParaRPr lang="en-US" sz="1300" dirty="0"/>
          </a:p>
        </p:txBody>
      </p:sp>
      <p:sp>
        <p:nvSpPr>
          <p:cNvPr id="17" name="Text 15"/>
          <p:cNvSpPr/>
          <p:nvPr/>
        </p:nvSpPr>
        <p:spPr>
          <a:xfrm>
            <a:off x="777240" y="4197096"/>
            <a:ext cx="4800600" cy="1563624"/>
          </a:xfrm>
          <a:prstGeom prst="rect">
            <a:avLst/>
          </a:prstGeom>
          <a:noFill/>
          <a:ln/>
        </p:spPr>
        <p:txBody>
          <a:bodyPr wrap="square" lIns="0" tIns="0" rIns="0" bIns="0" rtlCol="0" anchor="t"/>
          <a:lstStyle/>
          <a:p>
            <a:pPr indent="0" marL="0">
              <a:lnSpc>
                <a:spcPct val="122000"/>
              </a:lnSpc>
              <a:buNone/>
            </a:pPr>
            <a:r>
              <a:rPr lang="en-US" sz="1130" dirty="0">
                <a:solidFill>
                  <a:srgbClr val="1B2340"/>
                </a:solidFill>
                <a:latin typeface="Calibri" pitchFamily="34" charset="0"/>
                <a:ea typeface="Calibri" pitchFamily="34" charset="-122"/>
                <a:cs typeface="Calibri" pitchFamily="34" charset="-120"/>
              </a:rPr>
              <a:t>Built the foundational brand to carry this vision, including the name, tone of voice, visual identity, and the tagline, “Guiding your journey.” We also facilitated the legal and structural setup, driving company incorporation, tax registration, CUE licensing, and the groundwork for ICEF/London Statement compliance.</a:t>
            </a:r>
            <a:endParaRPr lang="en-US" sz="1130" dirty="0"/>
          </a:p>
        </p:txBody>
      </p:sp>
      <p:sp>
        <p:nvSpPr>
          <p:cNvPr id="18" name="Shape 16"/>
          <p:cNvSpPr/>
          <p:nvPr/>
        </p:nvSpPr>
        <p:spPr>
          <a:xfrm>
            <a:off x="6400800" y="1600200"/>
            <a:ext cx="5257800" cy="2011680"/>
          </a:xfrm>
          <a:prstGeom prst="rect">
            <a:avLst/>
          </a:prstGeom>
          <a:solidFill>
            <a:srgbClr val="0D1B3E"/>
          </a:solidFill>
          <a:ln/>
        </p:spPr>
      </p:sp>
      <p:sp>
        <p:nvSpPr>
          <p:cNvPr id="19" name="Text 17"/>
          <p:cNvSpPr/>
          <p:nvPr/>
        </p:nvSpPr>
        <p:spPr>
          <a:xfrm>
            <a:off x="6720840" y="1837944"/>
            <a:ext cx="4617720" cy="310896"/>
          </a:xfrm>
          <a:prstGeom prst="rect">
            <a:avLst/>
          </a:prstGeom>
          <a:noFill/>
          <a:ln/>
        </p:spPr>
        <p:txBody>
          <a:bodyPr wrap="square" lIns="0" tIns="0" rIns="0" bIns="0" rtlCol="0" anchor="ctr"/>
          <a:lstStyle/>
          <a:p>
            <a:pPr indent="0" marL="0">
              <a:buNone/>
            </a:pPr>
            <a:r>
              <a:rPr lang="en-US" sz="1350" b="1" spc="80" kern="0" dirty="0">
                <a:solidFill>
                  <a:srgbClr val="C9A84C"/>
                </a:solidFill>
                <a:latin typeface="Calibri" pitchFamily="34" charset="0"/>
                <a:ea typeface="Calibri" pitchFamily="34" charset="-122"/>
                <a:cs typeface="Calibri" pitchFamily="34" charset="-120"/>
              </a:rPr>
              <a:t>STUDENTS</a:t>
            </a:r>
            <a:endParaRPr lang="en-US" sz="1350" dirty="0"/>
          </a:p>
        </p:txBody>
      </p:sp>
      <p:sp>
        <p:nvSpPr>
          <p:cNvPr id="20" name="Shape 18"/>
          <p:cNvSpPr/>
          <p:nvPr/>
        </p:nvSpPr>
        <p:spPr>
          <a:xfrm>
            <a:off x="6720840" y="2258568"/>
            <a:ext cx="1344168" cy="310896"/>
          </a:xfrm>
          <a:prstGeom prst="roundRect">
            <a:avLst>
              <a:gd name="adj" fmla="val 17647"/>
            </a:avLst>
          </a:prstGeom>
          <a:ln w="9525">
            <a:solidFill>
              <a:srgbClr val="C9A84C"/>
            </a:solidFill>
            <a:prstDash val="solid"/>
          </a:ln>
        </p:spPr>
      </p:sp>
      <p:sp>
        <p:nvSpPr>
          <p:cNvPr id="21" name="Text 19"/>
          <p:cNvSpPr/>
          <p:nvPr/>
        </p:nvSpPr>
        <p:spPr>
          <a:xfrm>
            <a:off x="6720840" y="2258568"/>
            <a:ext cx="1344168" cy="310896"/>
          </a:xfrm>
          <a:prstGeom prst="rect">
            <a:avLst/>
          </a:prstGeom>
          <a:noFill/>
          <a:ln/>
        </p:spPr>
        <p:txBody>
          <a:bodyPr wrap="square" lIns="0" tIns="0" rIns="0" bIns="0" rtlCol="0" anchor="ctr"/>
          <a:lstStyle/>
          <a:p>
            <a:pPr algn="ctr" indent="0" marL="0">
              <a:buNone/>
            </a:pPr>
            <a:r>
              <a:rPr lang="en-US" sz="950" b="1" dirty="0">
                <a:solidFill>
                  <a:srgbClr val="F8F5EE"/>
                </a:solidFill>
                <a:latin typeface="Calibri" pitchFamily="34" charset="0"/>
                <a:ea typeface="Calibri" pitchFamily="34" charset="-122"/>
                <a:cs typeface="Calibri" pitchFamily="34" charset="-120"/>
              </a:rPr>
              <a:t>Instagram</a:t>
            </a:r>
            <a:endParaRPr lang="en-US" sz="950" dirty="0"/>
          </a:p>
        </p:txBody>
      </p:sp>
      <p:sp>
        <p:nvSpPr>
          <p:cNvPr id="22" name="Shape 20"/>
          <p:cNvSpPr/>
          <p:nvPr/>
        </p:nvSpPr>
        <p:spPr>
          <a:xfrm>
            <a:off x="8193024" y="2258568"/>
            <a:ext cx="987552" cy="310896"/>
          </a:xfrm>
          <a:prstGeom prst="roundRect">
            <a:avLst>
              <a:gd name="adj" fmla="val 17647"/>
            </a:avLst>
          </a:prstGeom>
          <a:ln w="9525">
            <a:solidFill>
              <a:srgbClr val="C9A84C"/>
            </a:solidFill>
            <a:prstDash val="solid"/>
          </a:ln>
        </p:spPr>
      </p:sp>
      <p:sp>
        <p:nvSpPr>
          <p:cNvPr id="23" name="Text 21"/>
          <p:cNvSpPr/>
          <p:nvPr/>
        </p:nvSpPr>
        <p:spPr>
          <a:xfrm>
            <a:off x="8193024" y="2258568"/>
            <a:ext cx="987552" cy="310896"/>
          </a:xfrm>
          <a:prstGeom prst="rect">
            <a:avLst/>
          </a:prstGeom>
          <a:noFill/>
          <a:ln/>
        </p:spPr>
        <p:txBody>
          <a:bodyPr wrap="square" lIns="0" tIns="0" rIns="0" bIns="0" rtlCol="0" anchor="ctr"/>
          <a:lstStyle/>
          <a:p>
            <a:pPr algn="ctr" indent="0" marL="0">
              <a:buNone/>
            </a:pPr>
            <a:r>
              <a:rPr lang="en-US" sz="950" b="1" dirty="0">
                <a:solidFill>
                  <a:srgbClr val="F8F5EE"/>
                </a:solidFill>
                <a:latin typeface="Calibri" pitchFamily="34" charset="0"/>
                <a:ea typeface="Calibri" pitchFamily="34" charset="-122"/>
                <a:cs typeface="Calibri" pitchFamily="34" charset="-120"/>
              </a:rPr>
              <a:t>TikTok</a:t>
            </a:r>
            <a:endParaRPr lang="en-US" sz="950" dirty="0"/>
          </a:p>
        </p:txBody>
      </p:sp>
      <p:sp>
        <p:nvSpPr>
          <p:cNvPr id="24" name="Text 22"/>
          <p:cNvSpPr/>
          <p:nvPr/>
        </p:nvSpPr>
        <p:spPr>
          <a:xfrm>
            <a:off x="6720840" y="2761488"/>
            <a:ext cx="4617720" cy="621792"/>
          </a:xfrm>
          <a:prstGeom prst="rect">
            <a:avLst/>
          </a:prstGeom>
          <a:noFill/>
          <a:ln/>
        </p:spPr>
        <p:txBody>
          <a:bodyPr wrap="square" lIns="0" tIns="0" rIns="0" bIns="0" rtlCol="0" anchor="t"/>
          <a:lstStyle/>
          <a:p>
            <a:pPr indent="0" marL="0">
              <a:lnSpc>
                <a:spcPct val="122000"/>
              </a:lnSpc>
              <a:buNone/>
            </a:pPr>
            <a:r>
              <a:rPr lang="en-US" sz="1150" dirty="0">
                <a:solidFill>
                  <a:srgbClr val="E3DFD2"/>
                </a:solidFill>
                <a:latin typeface="Calibri" pitchFamily="34" charset="0"/>
                <a:ea typeface="Calibri" pitchFamily="34" charset="-122"/>
                <a:cs typeface="Calibri" pitchFamily="34" charset="-120"/>
              </a:rPr>
              <a:t>Story-led, aspirational content built around lived experience — confident, honest, and unafraid of the harder parts of the journey.</a:t>
            </a:r>
            <a:endParaRPr lang="en-US" sz="1150" dirty="0"/>
          </a:p>
        </p:txBody>
      </p:sp>
      <p:sp>
        <p:nvSpPr>
          <p:cNvPr id="25" name="Shape 23"/>
          <p:cNvSpPr/>
          <p:nvPr/>
        </p:nvSpPr>
        <p:spPr>
          <a:xfrm>
            <a:off x="6400800" y="3794760"/>
            <a:ext cx="5257800" cy="2011680"/>
          </a:xfrm>
          <a:prstGeom prst="rect">
            <a:avLst/>
          </a:prstGeom>
          <a:solidFill>
            <a:srgbClr val="0D1B3E"/>
          </a:solidFill>
          <a:ln/>
        </p:spPr>
      </p:sp>
      <p:sp>
        <p:nvSpPr>
          <p:cNvPr id="26" name="Text 24"/>
          <p:cNvSpPr/>
          <p:nvPr/>
        </p:nvSpPr>
        <p:spPr>
          <a:xfrm>
            <a:off x="6720840" y="4032504"/>
            <a:ext cx="4617720" cy="310896"/>
          </a:xfrm>
          <a:prstGeom prst="rect">
            <a:avLst/>
          </a:prstGeom>
          <a:noFill/>
          <a:ln/>
        </p:spPr>
        <p:txBody>
          <a:bodyPr wrap="square" lIns="0" tIns="0" rIns="0" bIns="0" rtlCol="0" anchor="ctr"/>
          <a:lstStyle/>
          <a:p>
            <a:pPr indent="0" marL="0">
              <a:buNone/>
            </a:pPr>
            <a:r>
              <a:rPr lang="en-US" sz="1350" b="1" spc="80" kern="0" dirty="0">
                <a:solidFill>
                  <a:srgbClr val="C9A84C"/>
                </a:solidFill>
                <a:latin typeface="Calibri" pitchFamily="34" charset="0"/>
                <a:ea typeface="Calibri" pitchFamily="34" charset="-122"/>
                <a:cs typeface="Calibri" pitchFamily="34" charset="-120"/>
              </a:rPr>
              <a:t>PARENTS &amp; SPONSORS</a:t>
            </a:r>
            <a:endParaRPr lang="en-US" sz="1350" dirty="0"/>
          </a:p>
        </p:txBody>
      </p:sp>
      <p:sp>
        <p:nvSpPr>
          <p:cNvPr id="27" name="Shape 25"/>
          <p:cNvSpPr/>
          <p:nvPr/>
        </p:nvSpPr>
        <p:spPr>
          <a:xfrm>
            <a:off x="6720840" y="4453128"/>
            <a:ext cx="1225296" cy="310896"/>
          </a:xfrm>
          <a:prstGeom prst="roundRect">
            <a:avLst>
              <a:gd name="adj" fmla="val 17647"/>
            </a:avLst>
          </a:prstGeom>
          <a:ln w="9525">
            <a:solidFill>
              <a:srgbClr val="C9A84C"/>
            </a:solidFill>
            <a:prstDash val="solid"/>
          </a:ln>
        </p:spPr>
      </p:sp>
      <p:sp>
        <p:nvSpPr>
          <p:cNvPr id="28" name="Text 26"/>
          <p:cNvSpPr/>
          <p:nvPr/>
        </p:nvSpPr>
        <p:spPr>
          <a:xfrm>
            <a:off x="6720840" y="4453128"/>
            <a:ext cx="1225296" cy="310896"/>
          </a:xfrm>
          <a:prstGeom prst="rect">
            <a:avLst/>
          </a:prstGeom>
          <a:noFill/>
          <a:ln/>
        </p:spPr>
        <p:txBody>
          <a:bodyPr wrap="square" lIns="0" tIns="0" rIns="0" bIns="0" rtlCol="0" anchor="ctr"/>
          <a:lstStyle/>
          <a:p>
            <a:pPr algn="ctr" indent="0" marL="0">
              <a:buNone/>
            </a:pPr>
            <a:r>
              <a:rPr lang="en-US" sz="950" b="1" dirty="0">
                <a:solidFill>
                  <a:srgbClr val="F8F5EE"/>
                </a:solidFill>
                <a:latin typeface="Calibri" pitchFamily="34" charset="0"/>
                <a:ea typeface="Calibri" pitchFamily="34" charset="-122"/>
                <a:cs typeface="Calibri" pitchFamily="34" charset="-120"/>
              </a:rPr>
              <a:t>Facebook</a:t>
            </a:r>
            <a:endParaRPr lang="en-US" sz="950" dirty="0"/>
          </a:p>
        </p:txBody>
      </p:sp>
      <p:sp>
        <p:nvSpPr>
          <p:cNvPr id="29" name="Shape 27"/>
          <p:cNvSpPr/>
          <p:nvPr/>
        </p:nvSpPr>
        <p:spPr>
          <a:xfrm>
            <a:off x="8074152" y="4453128"/>
            <a:ext cx="1225296" cy="310896"/>
          </a:xfrm>
          <a:prstGeom prst="roundRect">
            <a:avLst>
              <a:gd name="adj" fmla="val 17647"/>
            </a:avLst>
          </a:prstGeom>
          <a:ln w="9525">
            <a:solidFill>
              <a:srgbClr val="C9A84C"/>
            </a:solidFill>
            <a:prstDash val="solid"/>
          </a:ln>
        </p:spPr>
      </p:sp>
      <p:sp>
        <p:nvSpPr>
          <p:cNvPr id="30" name="Text 28"/>
          <p:cNvSpPr/>
          <p:nvPr/>
        </p:nvSpPr>
        <p:spPr>
          <a:xfrm>
            <a:off x="8074152" y="4453128"/>
            <a:ext cx="1225296" cy="310896"/>
          </a:xfrm>
          <a:prstGeom prst="rect">
            <a:avLst/>
          </a:prstGeom>
          <a:noFill/>
          <a:ln/>
        </p:spPr>
        <p:txBody>
          <a:bodyPr wrap="square" lIns="0" tIns="0" rIns="0" bIns="0" rtlCol="0" anchor="ctr"/>
          <a:lstStyle/>
          <a:p>
            <a:pPr algn="ctr" indent="0" marL="0">
              <a:buNone/>
            </a:pPr>
            <a:r>
              <a:rPr lang="en-US" sz="950" b="1" dirty="0">
                <a:solidFill>
                  <a:srgbClr val="F8F5EE"/>
                </a:solidFill>
                <a:latin typeface="Calibri" pitchFamily="34" charset="0"/>
                <a:ea typeface="Calibri" pitchFamily="34" charset="-122"/>
                <a:cs typeface="Calibri" pitchFamily="34" charset="-120"/>
              </a:rPr>
              <a:t>WhatsApp</a:t>
            </a:r>
            <a:endParaRPr lang="en-US" sz="950" dirty="0"/>
          </a:p>
        </p:txBody>
      </p:sp>
      <p:sp>
        <p:nvSpPr>
          <p:cNvPr id="31" name="Text 29"/>
          <p:cNvSpPr/>
          <p:nvPr/>
        </p:nvSpPr>
        <p:spPr>
          <a:xfrm>
            <a:off x="6720840" y="4956048"/>
            <a:ext cx="4617720" cy="621792"/>
          </a:xfrm>
          <a:prstGeom prst="rect">
            <a:avLst/>
          </a:prstGeom>
          <a:noFill/>
          <a:ln/>
        </p:spPr>
        <p:txBody>
          <a:bodyPr wrap="square" lIns="0" tIns="0" rIns="0" bIns="0" rtlCol="0" anchor="t"/>
          <a:lstStyle/>
          <a:p>
            <a:pPr indent="0" marL="0">
              <a:lnSpc>
                <a:spcPct val="122000"/>
              </a:lnSpc>
              <a:buNone/>
            </a:pPr>
            <a:r>
              <a:rPr lang="en-US" sz="1150" dirty="0">
                <a:solidFill>
                  <a:srgbClr val="E3DFD2"/>
                </a:solidFill>
                <a:latin typeface="Calibri" pitchFamily="34" charset="0"/>
                <a:ea typeface="Calibri" pitchFamily="34" charset="-122"/>
                <a:cs typeface="Calibri" pitchFamily="34" charset="-120"/>
              </a:rPr>
              <a:t>Cost- and safety-focused communication, built to reassure the people funding and approving the journey.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3E"/>
        </a:solidFill>
      </p:bgPr>
    </p:bg>
    <p:spTree>
      <p:nvGrpSpPr>
        <p:cNvPr id="1" name=""/>
        <p:cNvGrpSpPr/>
        <p:nvPr/>
      </p:nvGrpSpPr>
      <p:grpSpPr>
        <a:xfrm>
          <a:off x="0" y="0"/>
          <a:ext cx="0" cy="0"/>
          <a:chOff x="0" y="0"/>
          <a:chExt cx="0" cy="0"/>
        </a:xfrm>
      </p:grpSpPr>
      <p:sp>
        <p:nvSpPr>
          <p:cNvPr id="2" name="Text 0"/>
          <p:cNvSpPr/>
          <p:nvPr/>
        </p:nvSpPr>
        <p:spPr>
          <a:xfrm>
            <a:off x="548640" y="237744"/>
            <a:ext cx="2011680" cy="310896"/>
          </a:xfrm>
          <a:prstGeom prst="rect">
            <a:avLst/>
          </a:prstGeom>
          <a:noFill/>
          <a:ln/>
        </p:spPr>
        <p:txBody>
          <a:bodyPr wrap="square" lIns="0" tIns="0" rIns="0" bIns="0" rtlCol="0" anchor="ctr"/>
          <a:lstStyle/>
          <a:p>
            <a:pPr indent="0" marL="0">
              <a:buNone/>
            </a:pPr>
            <a:r>
              <a:rPr lang="en-US" sz="1300" b="1" dirty="0">
                <a:solidFill>
                  <a:srgbClr val="F8F5EE"/>
                </a:solidFill>
                <a:latin typeface="Calibri" pitchFamily="34" charset="0"/>
                <a:ea typeface="Calibri" pitchFamily="34" charset="-122"/>
                <a:cs typeface="Calibri" pitchFamily="34" charset="-120"/>
              </a:rPr>
              <a:t>Portfolio</a:t>
            </a:r>
            <a:endParaRPr lang="en-US" sz="1300" dirty="0"/>
          </a:p>
        </p:txBody>
      </p:sp>
      <p:sp>
        <p:nvSpPr>
          <p:cNvPr id="3" name="Text 1"/>
          <p:cNvSpPr/>
          <p:nvPr/>
        </p:nvSpPr>
        <p:spPr>
          <a:xfrm>
            <a:off x="8366760" y="237744"/>
            <a:ext cx="777240" cy="310896"/>
          </a:xfrm>
          <a:prstGeom prst="rect">
            <a:avLst/>
          </a:prstGeom>
          <a:noFill/>
          <a:ln/>
        </p:spPr>
        <p:txBody>
          <a:bodyPr wrap="square" lIns="0" tIns="0" rIns="0" bIns="0" rtlCol="0" anchor="ctr"/>
          <a:lstStyle/>
          <a:p>
            <a:pPr algn="l" indent="0" marL="0">
              <a:buNone/>
            </a:pPr>
            <a:r>
              <a:rPr lang="en-US" sz="1100" dirty="0">
                <a:solidFill>
                  <a:srgbClr val="C9C2AE"/>
                </a:solidFill>
                <a:latin typeface="Calibri" pitchFamily="34" charset="0"/>
                <a:ea typeface="Calibri" pitchFamily="34" charset="-122"/>
                <a:cs typeface="Calibri" pitchFamily="34" charset="-120"/>
              </a:rPr>
              <a:t>Home</a:t>
            </a:r>
            <a:endParaRPr lang="en-US" sz="1100" dirty="0"/>
          </a:p>
        </p:txBody>
      </p:sp>
      <p:sp>
        <p:nvSpPr>
          <p:cNvPr id="4" name="Text 2"/>
          <p:cNvSpPr/>
          <p:nvPr/>
        </p:nvSpPr>
        <p:spPr>
          <a:xfrm>
            <a:off x="9281160" y="237744"/>
            <a:ext cx="1234440" cy="310896"/>
          </a:xfrm>
          <a:prstGeom prst="rect">
            <a:avLst/>
          </a:prstGeom>
          <a:noFill/>
          <a:ln/>
        </p:spPr>
        <p:txBody>
          <a:bodyPr wrap="square" lIns="0" tIns="0" rIns="0" bIns="0" rtlCol="0" anchor="ctr"/>
          <a:lstStyle/>
          <a:p>
            <a:pPr algn="l" indent="0" marL="0">
              <a:buNone/>
            </a:pPr>
            <a:r>
              <a:rPr lang="en-US" sz="1100" dirty="0">
                <a:solidFill>
                  <a:srgbClr val="C9C2AE"/>
                </a:solidFill>
                <a:latin typeface="Calibri" pitchFamily="34" charset="0"/>
                <a:ea typeface="Calibri" pitchFamily="34" charset="-122"/>
                <a:cs typeface="Calibri" pitchFamily="34" charset="-120"/>
              </a:rPr>
              <a:t>Case Studies</a:t>
            </a:r>
            <a:endParaRPr lang="en-US" sz="1100" dirty="0"/>
          </a:p>
        </p:txBody>
      </p:sp>
      <p:sp>
        <p:nvSpPr>
          <p:cNvPr id="5" name="Text 3"/>
          <p:cNvSpPr/>
          <p:nvPr/>
        </p:nvSpPr>
        <p:spPr>
          <a:xfrm>
            <a:off x="10652760" y="237744"/>
            <a:ext cx="1005840" cy="310896"/>
          </a:xfrm>
          <a:prstGeom prst="rect">
            <a:avLst/>
          </a:prstGeom>
          <a:noFill/>
          <a:ln/>
        </p:spPr>
        <p:txBody>
          <a:bodyPr wrap="square" lIns="0" tIns="0" rIns="0" bIns="0" rtlCol="0" anchor="ctr"/>
          <a:lstStyle/>
          <a:p>
            <a:pPr algn="l" indent="0" marL="0">
              <a:buNone/>
            </a:pPr>
            <a:r>
              <a:rPr lang="en-US" sz="1100" b="1" dirty="0">
                <a:solidFill>
                  <a:srgbClr val="C9A84C"/>
                </a:solidFill>
                <a:latin typeface="Calibri" pitchFamily="34" charset="0"/>
                <a:ea typeface="Calibri" pitchFamily="34" charset="-122"/>
                <a:cs typeface="Calibri" pitchFamily="34" charset="-120"/>
              </a:rPr>
              <a:t>Outcomes</a:t>
            </a:r>
            <a:endParaRPr lang="en-US" sz="1100" dirty="0"/>
          </a:p>
        </p:txBody>
      </p:sp>
      <p:sp>
        <p:nvSpPr>
          <p:cNvPr id="6" name="Shape 4"/>
          <p:cNvSpPr/>
          <p:nvPr/>
        </p:nvSpPr>
        <p:spPr>
          <a:xfrm>
            <a:off x="10652760" y="548640"/>
            <a:ext cx="868680" cy="0"/>
          </a:xfrm>
          <a:prstGeom prst="line">
            <a:avLst/>
          </a:prstGeom>
          <a:noFill/>
          <a:ln w="19050">
            <a:solidFill>
              <a:srgbClr val="C9A84C"/>
            </a:solidFill>
            <a:prstDash val="solid"/>
          </a:ln>
        </p:spPr>
      </p:sp>
      <p:sp>
        <p:nvSpPr>
          <p:cNvPr id="7" name="Shape 5"/>
          <p:cNvSpPr/>
          <p:nvPr/>
        </p:nvSpPr>
        <p:spPr>
          <a:xfrm>
            <a:off x="548640" y="731520"/>
            <a:ext cx="11094415" cy="0"/>
          </a:xfrm>
          <a:prstGeom prst="line">
            <a:avLst/>
          </a:prstGeom>
          <a:noFill/>
          <a:ln w="9525">
            <a:solidFill>
              <a:srgbClr val="2A3A63"/>
            </a:solidFill>
            <a:prstDash val="solid"/>
          </a:ln>
        </p:spPr>
      </p:sp>
      <p:sp>
        <p:nvSpPr>
          <p:cNvPr id="8" name="Text 6"/>
          <p:cNvSpPr/>
          <p:nvPr/>
        </p:nvSpPr>
        <p:spPr>
          <a:xfrm>
            <a:off x="548640" y="6473952"/>
            <a:ext cx="2926080" cy="274320"/>
          </a:xfrm>
          <a:prstGeom prst="rect">
            <a:avLst/>
          </a:prstGeom>
          <a:noFill/>
          <a:ln/>
        </p:spPr>
        <p:txBody>
          <a:bodyPr wrap="square" lIns="0" tIns="0" rIns="0" bIns="0" rtlCol="0" anchor="ctr"/>
          <a:lstStyle/>
          <a:p>
            <a:pPr indent="0" marL="0">
              <a:buNone/>
            </a:pPr>
            <a:r>
              <a:rPr lang="en-US" sz="900" dirty="0">
                <a:solidFill>
                  <a:srgbClr val="C9C2AE"/>
                </a:solidFill>
                <a:latin typeface="Calibri" pitchFamily="34" charset="0"/>
                <a:ea typeface="Calibri" pitchFamily="34" charset="-122"/>
                <a:cs typeface="Calibri" pitchFamily="34" charset="-120"/>
              </a:rPr>
              <a:t>www.jktellsstories.africa</a:t>
            </a:r>
            <a:endParaRPr lang="en-US" sz="900" dirty="0"/>
          </a:p>
        </p:txBody>
      </p:sp>
      <p:sp>
        <p:nvSpPr>
          <p:cNvPr id="9" name="Text 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C9C2AE"/>
                </a:solidFill>
                <a:latin typeface="Calibri" pitchFamily="34" charset="0"/>
                <a:ea typeface="Calibri" pitchFamily="34" charset="-122"/>
                <a:cs typeface="Calibri" pitchFamily="34" charset="-120"/>
              </a:rPr>
              <a:t>5</a:t>
            </a:r>
            <a:endParaRPr lang="en-US" sz="900" dirty="0"/>
          </a:p>
        </p:txBody>
      </p:sp>
      <p:sp>
        <p:nvSpPr>
          <p:cNvPr id="10" name="Text 8"/>
          <p:cNvSpPr/>
          <p:nvPr/>
        </p:nvSpPr>
        <p:spPr>
          <a:xfrm>
            <a:off x="548640" y="1143000"/>
            <a:ext cx="2926080" cy="685800"/>
          </a:xfrm>
          <a:prstGeom prst="rect">
            <a:avLst/>
          </a:prstGeom>
          <a:noFill/>
          <a:ln/>
        </p:spPr>
        <p:txBody>
          <a:bodyPr wrap="square" lIns="0" tIns="0" rIns="0" bIns="0" rtlCol="0" anchor="ctr"/>
          <a:lstStyle/>
          <a:p>
            <a:pPr indent="0" marL="0">
              <a:buNone/>
            </a:pPr>
            <a:r>
              <a:rPr lang="en-US" sz="3600" b="1" dirty="0">
                <a:solidFill>
                  <a:srgbClr val="C9A84C"/>
                </a:solidFill>
                <a:latin typeface="Cambria" pitchFamily="34" charset="0"/>
                <a:ea typeface="Cambria" pitchFamily="34" charset="-122"/>
                <a:cs typeface="Cambria" pitchFamily="34" charset="-120"/>
              </a:rPr>
              <a:t>Outcomes</a:t>
            </a:r>
            <a:endParaRPr lang="en-US" sz="3600" dirty="0"/>
          </a:p>
        </p:txBody>
      </p:sp>
      <p:sp>
        <p:nvSpPr>
          <p:cNvPr id="11" name="Shape 9"/>
          <p:cNvSpPr/>
          <p:nvPr/>
        </p:nvSpPr>
        <p:spPr>
          <a:xfrm flipV="1">
            <a:off x="2743200" y="1481328"/>
            <a:ext cx="292608" cy="292608"/>
          </a:xfrm>
          <a:prstGeom prst="line">
            <a:avLst/>
          </a:prstGeom>
          <a:noFill/>
          <a:ln w="25400">
            <a:solidFill>
              <a:srgbClr val="C9A84C"/>
            </a:solidFill>
            <a:prstDash val="solid"/>
          </a:ln>
        </p:spPr>
      </p:sp>
      <p:sp>
        <p:nvSpPr>
          <p:cNvPr id="12" name="Shape 10"/>
          <p:cNvSpPr/>
          <p:nvPr/>
        </p:nvSpPr>
        <p:spPr>
          <a:xfrm rot="2700000">
            <a:off x="2926080" y="1371600"/>
            <a:ext cx="137160" cy="137160"/>
          </a:xfrm>
          <a:prstGeom prst="triangle">
            <a:avLst/>
          </a:prstGeom>
          <a:solidFill>
            <a:srgbClr val="C9A84C"/>
          </a:solidFill>
          <a:ln/>
        </p:spPr>
      </p:sp>
      <p:sp>
        <p:nvSpPr>
          <p:cNvPr id="13" name="Text 11"/>
          <p:cNvSpPr/>
          <p:nvPr/>
        </p:nvSpPr>
        <p:spPr>
          <a:xfrm>
            <a:off x="548640" y="1965960"/>
            <a:ext cx="5486400" cy="960120"/>
          </a:xfrm>
          <a:prstGeom prst="rect">
            <a:avLst/>
          </a:prstGeom>
          <a:noFill/>
          <a:ln/>
        </p:spPr>
        <p:txBody>
          <a:bodyPr wrap="square" lIns="0" tIns="0" rIns="0" bIns="0" rtlCol="0" anchor="ctr"/>
          <a:lstStyle/>
          <a:p>
            <a:pPr indent="0" marL="0">
              <a:lnSpc>
                <a:spcPct val="128000"/>
              </a:lnSpc>
              <a:buNone/>
            </a:pPr>
            <a:r>
              <a:rPr lang="en-US" sz="1300" dirty="0">
                <a:solidFill>
                  <a:srgbClr val="DCD6C6"/>
                </a:solidFill>
                <a:latin typeface="Calibri" pitchFamily="34" charset="0"/>
                <a:ea typeface="Calibri" pitchFamily="34" charset="-122"/>
                <a:cs typeface="Calibri" pitchFamily="34" charset="-120"/>
              </a:rPr>
              <a:t>The engagement delivered a comprehensive, market-ready business architecture — equipping the founders to launch with confidence.</a:t>
            </a:r>
            <a:endParaRPr lang="en-US" sz="1300" dirty="0"/>
          </a:p>
        </p:txBody>
      </p:sp>
      <p:sp>
        <p:nvSpPr>
          <p:cNvPr id="14" name="Shape 12"/>
          <p:cNvSpPr/>
          <p:nvPr/>
        </p:nvSpPr>
        <p:spPr>
          <a:xfrm>
            <a:off x="548640" y="3063240"/>
            <a:ext cx="502920" cy="502920"/>
          </a:xfrm>
          <a:prstGeom prst="rect">
            <a:avLst/>
          </a:prstGeom>
          <a:solidFill>
            <a:srgbClr val="1C3164"/>
          </a:solidFill>
          <a:ln w="12700">
            <a:solidFill>
              <a:srgbClr val="C9A84C"/>
            </a:solidFill>
            <a:prstDash val="solid"/>
          </a:ln>
        </p:spPr>
      </p:sp>
      <p:sp>
        <p:nvSpPr>
          <p:cNvPr id="15" name="Text 13"/>
          <p:cNvSpPr/>
          <p:nvPr/>
        </p:nvSpPr>
        <p:spPr>
          <a:xfrm>
            <a:off x="548640" y="3063240"/>
            <a:ext cx="502920" cy="502920"/>
          </a:xfrm>
          <a:prstGeom prst="rect">
            <a:avLst/>
          </a:prstGeom>
          <a:noFill/>
          <a:ln/>
        </p:spPr>
        <p:txBody>
          <a:bodyPr wrap="square" lIns="0" tIns="0" rIns="0" bIns="0" rtlCol="0" anchor="ctr"/>
          <a:lstStyle/>
          <a:p>
            <a:pPr algn="ctr" indent="0" marL="0">
              <a:buNone/>
            </a:pPr>
            <a:r>
              <a:rPr lang="en-US" sz="1300" b="1" dirty="0">
                <a:solidFill>
                  <a:srgbClr val="C9A84C"/>
                </a:solidFill>
                <a:latin typeface="Calibri" pitchFamily="34" charset="0"/>
                <a:ea typeface="Calibri" pitchFamily="34" charset="-122"/>
                <a:cs typeface="Calibri" pitchFamily="34" charset="-120"/>
              </a:rPr>
              <a:t>01</a:t>
            </a:r>
            <a:endParaRPr lang="en-US" sz="1300" dirty="0"/>
          </a:p>
        </p:txBody>
      </p:sp>
      <p:sp>
        <p:nvSpPr>
          <p:cNvPr id="16" name="Text 14"/>
          <p:cNvSpPr/>
          <p:nvPr/>
        </p:nvSpPr>
        <p:spPr>
          <a:xfrm>
            <a:off x="1234440" y="3008376"/>
            <a:ext cx="4480560" cy="822960"/>
          </a:xfrm>
          <a:prstGeom prst="rect">
            <a:avLst/>
          </a:prstGeom>
          <a:noFill/>
          <a:ln/>
        </p:spPr>
        <p:txBody>
          <a:bodyPr wrap="square" lIns="0" tIns="0" rIns="0" bIns="0" rtlCol="0" anchor="ctr"/>
          <a:lstStyle/>
          <a:p>
            <a:pPr indent="0" marL="0">
              <a:lnSpc>
                <a:spcPct val="118000"/>
              </a:lnSpc>
              <a:buNone/>
            </a:pPr>
            <a:r>
              <a:rPr lang="en-US" sz="1180" dirty="0">
                <a:solidFill>
                  <a:srgbClr val="F8F5EE"/>
                </a:solidFill>
                <a:latin typeface="Calibri" pitchFamily="34" charset="0"/>
                <a:ea typeface="Calibri" pitchFamily="34" charset="-122"/>
                <a:cs typeface="Calibri" pitchFamily="34" charset="-120"/>
              </a:rPr>
              <a:t>A finalized brand identity — name, tone of voice, visual system, and tagline — ready to carry the business to launch.</a:t>
            </a:r>
            <a:endParaRPr lang="en-US" sz="1180" dirty="0"/>
          </a:p>
        </p:txBody>
      </p:sp>
      <p:sp>
        <p:nvSpPr>
          <p:cNvPr id="17" name="Shape 15"/>
          <p:cNvSpPr/>
          <p:nvPr/>
        </p:nvSpPr>
        <p:spPr>
          <a:xfrm>
            <a:off x="548640" y="4023360"/>
            <a:ext cx="502920" cy="502920"/>
          </a:xfrm>
          <a:prstGeom prst="rect">
            <a:avLst/>
          </a:prstGeom>
          <a:solidFill>
            <a:srgbClr val="1C3164"/>
          </a:solidFill>
          <a:ln w="12700">
            <a:solidFill>
              <a:srgbClr val="C9A84C"/>
            </a:solidFill>
            <a:prstDash val="solid"/>
          </a:ln>
        </p:spPr>
      </p:sp>
      <p:sp>
        <p:nvSpPr>
          <p:cNvPr id="18" name="Text 16"/>
          <p:cNvSpPr/>
          <p:nvPr/>
        </p:nvSpPr>
        <p:spPr>
          <a:xfrm>
            <a:off x="548640" y="4023360"/>
            <a:ext cx="502920" cy="502920"/>
          </a:xfrm>
          <a:prstGeom prst="rect">
            <a:avLst/>
          </a:prstGeom>
          <a:noFill/>
          <a:ln/>
        </p:spPr>
        <p:txBody>
          <a:bodyPr wrap="square" lIns="0" tIns="0" rIns="0" bIns="0" rtlCol="0" anchor="ctr"/>
          <a:lstStyle/>
          <a:p>
            <a:pPr algn="ctr" indent="0" marL="0">
              <a:buNone/>
            </a:pPr>
            <a:r>
              <a:rPr lang="en-US" sz="1300" b="1" dirty="0">
                <a:solidFill>
                  <a:srgbClr val="C9A84C"/>
                </a:solidFill>
                <a:latin typeface="Calibri" pitchFamily="34" charset="0"/>
                <a:ea typeface="Calibri" pitchFamily="34" charset="-122"/>
                <a:cs typeface="Calibri" pitchFamily="34" charset="-120"/>
              </a:rPr>
              <a:t>02</a:t>
            </a:r>
            <a:endParaRPr lang="en-US" sz="1300" dirty="0"/>
          </a:p>
        </p:txBody>
      </p:sp>
      <p:sp>
        <p:nvSpPr>
          <p:cNvPr id="19" name="Text 17"/>
          <p:cNvSpPr/>
          <p:nvPr/>
        </p:nvSpPr>
        <p:spPr>
          <a:xfrm>
            <a:off x="1234440" y="3968496"/>
            <a:ext cx="4480560" cy="822960"/>
          </a:xfrm>
          <a:prstGeom prst="rect">
            <a:avLst/>
          </a:prstGeom>
          <a:noFill/>
          <a:ln/>
        </p:spPr>
        <p:txBody>
          <a:bodyPr wrap="square" lIns="0" tIns="0" rIns="0" bIns="0" rtlCol="0" anchor="ctr"/>
          <a:lstStyle/>
          <a:p>
            <a:pPr indent="0" marL="0">
              <a:lnSpc>
                <a:spcPct val="118000"/>
              </a:lnSpc>
              <a:buNone/>
            </a:pPr>
            <a:r>
              <a:rPr lang="en-US" sz="1180" dirty="0">
                <a:solidFill>
                  <a:srgbClr val="F8F5EE"/>
                </a:solidFill>
                <a:latin typeface="Calibri" pitchFamily="34" charset="0"/>
                <a:ea typeface="Calibri" pitchFamily="34" charset="-122"/>
                <a:cs typeface="Calibri" pitchFamily="34" charset="-120"/>
              </a:rPr>
              <a:t>A resilient operating model spanning inquiry to post-arrival, built to scale from Kisumu across East Africa.</a:t>
            </a:r>
            <a:endParaRPr lang="en-US" sz="1180" dirty="0"/>
          </a:p>
        </p:txBody>
      </p:sp>
      <p:sp>
        <p:nvSpPr>
          <p:cNvPr id="20" name="Shape 18"/>
          <p:cNvSpPr/>
          <p:nvPr/>
        </p:nvSpPr>
        <p:spPr>
          <a:xfrm>
            <a:off x="548640" y="4983480"/>
            <a:ext cx="502920" cy="502920"/>
          </a:xfrm>
          <a:prstGeom prst="rect">
            <a:avLst/>
          </a:prstGeom>
          <a:solidFill>
            <a:srgbClr val="1C3164"/>
          </a:solidFill>
          <a:ln w="12700">
            <a:solidFill>
              <a:srgbClr val="C9A84C"/>
            </a:solidFill>
            <a:prstDash val="solid"/>
          </a:ln>
        </p:spPr>
      </p:sp>
      <p:sp>
        <p:nvSpPr>
          <p:cNvPr id="21" name="Text 19"/>
          <p:cNvSpPr/>
          <p:nvPr/>
        </p:nvSpPr>
        <p:spPr>
          <a:xfrm>
            <a:off x="548640" y="4983480"/>
            <a:ext cx="502920" cy="502920"/>
          </a:xfrm>
          <a:prstGeom prst="rect">
            <a:avLst/>
          </a:prstGeom>
          <a:noFill/>
          <a:ln/>
        </p:spPr>
        <p:txBody>
          <a:bodyPr wrap="square" lIns="0" tIns="0" rIns="0" bIns="0" rtlCol="0" anchor="ctr"/>
          <a:lstStyle/>
          <a:p>
            <a:pPr algn="ctr" indent="0" marL="0">
              <a:buNone/>
            </a:pPr>
            <a:r>
              <a:rPr lang="en-US" sz="1300" b="1" dirty="0">
                <a:solidFill>
                  <a:srgbClr val="C9A84C"/>
                </a:solidFill>
                <a:latin typeface="Calibri" pitchFamily="34" charset="0"/>
                <a:ea typeface="Calibri" pitchFamily="34" charset="-122"/>
                <a:cs typeface="Calibri" pitchFamily="34" charset="-120"/>
              </a:rPr>
              <a:t>03</a:t>
            </a:r>
            <a:endParaRPr lang="en-US" sz="1300" dirty="0"/>
          </a:p>
        </p:txBody>
      </p:sp>
      <p:sp>
        <p:nvSpPr>
          <p:cNvPr id="22" name="Text 20"/>
          <p:cNvSpPr/>
          <p:nvPr/>
        </p:nvSpPr>
        <p:spPr>
          <a:xfrm>
            <a:off x="1234440" y="4928616"/>
            <a:ext cx="4480560" cy="822960"/>
          </a:xfrm>
          <a:prstGeom prst="rect">
            <a:avLst/>
          </a:prstGeom>
          <a:noFill/>
          <a:ln/>
        </p:spPr>
        <p:txBody>
          <a:bodyPr wrap="square" lIns="0" tIns="0" rIns="0" bIns="0" rtlCol="0" anchor="ctr"/>
          <a:lstStyle/>
          <a:p>
            <a:pPr indent="0" marL="0">
              <a:lnSpc>
                <a:spcPct val="118000"/>
              </a:lnSpc>
              <a:buNone/>
            </a:pPr>
            <a:r>
              <a:rPr lang="en-US" sz="1180" dirty="0">
                <a:solidFill>
                  <a:srgbClr val="F8F5EE"/>
                </a:solidFill>
                <a:latin typeface="Calibri" pitchFamily="34" charset="0"/>
                <a:ea typeface="Calibri" pitchFamily="34" charset="-122"/>
                <a:cs typeface="Calibri" pitchFamily="34" charset="-120"/>
              </a:rPr>
              <a:t>A targeted go-to-market strategy positioned to capture an underserved market segment.</a:t>
            </a:r>
            <a:endParaRPr lang="en-US" sz="1180" dirty="0"/>
          </a:p>
        </p:txBody>
      </p:sp>
      <p:sp>
        <p:nvSpPr>
          <p:cNvPr id="23" name="Text 21"/>
          <p:cNvSpPr/>
          <p:nvPr/>
        </p:nvSpPr>
        <p:spPr>
          <a:xfrm>
            <a:off x="548640" y="5989320"/>
            <a:ext cx="5486400" cy="365760"/>
          </a:xfrm>
          <a:prstGeom prst="rect">
            <a:avLst/>
          </a:prstGeom>
          <a:noFill/>
          <a:ln/>
        </p:spPr>
        <p:txBody>
          <a:bodyPr wrap="square" lIns="0" tIns="0" rIns="0" bIns="0" rtlCol="0" anchor="ctr"/>
          <a:lstStyle/>
          <a:p>
            <a:pPr indent="0" marL="0">
              <a:buNone/>
            </a:pPr>
            <a:r>
              <a:rPr lang="en-US" sz="1300" i="1" dirty="0">
                <a:solidFill>
                  <a:srgbClr val="C9A84C"/>
                </a:solidFill>
                <a:latin typeface="Cambria" pitchFamily="34" charset="0"/>
                <a:ea typeface="Cambria" pitchFamily="34" charset="-122"/>
                <a:cs typeface="Cambria" pitchFamily="34" charset="-120"/>
              </a:rPr>
              <a:t>“Guiding their journey — from strategy to launch.”</a:t>
            </a:r>
            <a:endParaRPr lang="en-US" sz="1300" dirty="0"/>
          </a:p>
        </p:txBody>
      </p:sp>
      <p:sp>
        <p:nvSpPr>
          <p:cNvPr id="24" name="Shape 22"/>
          <p:cNvSpPr/>
          <p:nvPr/>
        </p:nvSpPr>
        <p:spPr>
          <a:xfrm>
            <a:off x="7818120" y="1600200"/>
            <a:ext cx="3657600" cy="3657600"/>
          </a:xfrm>
          <a:prstGeom prst="ellipse">
            <a:avLst/>
          </a:prstGeom>
          <a:ln w="9525">
            <a:solidFill>
              <a:srgbClr val="C9A84C">
                <a:alpha val="45000"/>
              </a:srgbClr>
            </a:solidFill>
            <a:prstDash val="solid"/>
          </a:ln>
        </p:spPr>
      </p:sp>
      <p:pic>
        <p:nvPicPr>
          <p:cNvPr id="25" name="Image 0" descr="/home/claude/assets/polaris_icon.png">    </p:cNvPr>
          <p:cNvPicPr>
            <a:picLocks noChangeAspect="1"/>
          </p:cNvPicPr>
          <p:nvPr/>
        </p:nvPicPr>
        <p:blipFill>
          <a:blip r:embed="rId1"/>
          <a:stretch>
            <a:fillRect/>
          </a:stretch>
        </p:blipFill>
        <p:spPr>
          <a:xfrm>
            <a:off x="8001000" y="1783080"/>
            <a:ext cx="3291840" cy="3291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2026-09-04T04:47:21Z</dcterms:created>
  <dcterms:modified xsi:type="dcterms:W3CDTF">2026-09-04T04:47:21Z</dcterms:modified>
</cp:coreProperties>
</file>